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F751C-BB4D-7A01-5564-304D4FE4E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AE9BB2-94F6-4A80-495C-DB17714E7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8E9B2C-B4BF-56A9-DB5C-EA8116B0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034F5-03A0-5DAD-C333-4023B9AB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1FF0E-1233-FDF7-E91F-160EAF63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029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F9A1F-5486-5476-A2B6-2252B46A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B4454-ECC3-3318-2B19-95CEA3567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A22EE-AC4B-D3C5-E429-61C2C05F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DE9A3-1174-AD93-3B8A-FDF27CC7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F367A0-EDED-8A3A-A517-31600D0D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26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BE27C-9754-C9B0-DDD7-BD7F84E7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5BB7B2-EA73-0615-B104-34908B1F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2CA54F-2D8A-0DD4-0CFF-72F06705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153E84-E113-279D-AF89-9FAC5804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A35121-6D4A-12E5-3036-67CF6B06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87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01105-4F4D-8F92-9721-251879CD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7540E-1FFE-BF55-B860-FC409968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6676DA-1968-D09A-D7FD-A6CC37E86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CE2A6B-96FF-EF34-7431-975AE854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0FBCD5-DF13-77A7-40F8-A5AC65A2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074DEA-E182-652A-7593-6966DE78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5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400CE-2816-7D1D-F73A-F717DC39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D3A3CE-5D32-CABB-7CE9-DBE3B7733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6D4C41-0FEF-0981-CD33-0A2240ECA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C3FD837-F9FB-02CF-81BB-7E08F6858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E899EC-8C52-E16E-F794-B56A32B49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EDDBCF-D977-3BD1-4F97-7E964691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0D2972-5B32-60E5-9B73-D2371C56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F4D1DF9-8696-D289-5A52-8571DA17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03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9D502-3462-9906-1DC7-EFF932F6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F90A30-4291-EC28-5AC9-173995AB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355875-8C49-5944-D29E-9879A452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C11EFB-38ED-6AC9-515C-A71207AA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58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86FCE5-CF54-933B-C2F9-09C06EB8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3238BA-BC99-FE23-63F7-4FDFB3B6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F41CBC-CF6B-2E07-026F-C330F790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34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CF452-AB18-E8EC-A2BE-D74548BD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F0BD6E-1841-1F90-5164-4F9D0ED5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AAA1BF-C5F7-8CFA-D836-981CBD184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3DF875-2924-15C8-5159-06F9959B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46007B-55F7-A5CD-8B12-D1DBB43A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EE86B2-C2AE-EDEF-5A9D-8BEA088A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77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B24FA-DBFE-9B9D-8617-C5AD3C46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378F66-0D05-730A-247B-590F00CA3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3F601F-2B7C-BF93-A9B5-1805A097A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F01892-BEB8-8C0A-D71E-ED0A6462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2839E0-0D1F-8C03-8AAA-6EB1E41F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6C20C5-394E-F8F8-CDAD-4C2F5348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47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386FD-D8FD-BAF0-5937-2010EA2A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B4CF44-7D66-ADC8-5C3F-AC8A2F162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D3A4F9-00C9-8319-8A4D-89DEF157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D0DD44-E167-154E-81ED-74A3FE48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1CF21-FB43-8A80-8074-211FC2FC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83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154ECE-9D40-6D75-E7F1-775E20C4C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84C9DC-C13B-A73A-2084-62F865A0B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E23DE5-E03F-25F0-B9B8-140A2831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3EE9F-1D54-3DE4-8975-4A29FFCE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030073-2666-1449-8608-05ADD179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27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412003-7CED-0BD3-2524-38CB6B2C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57BAE2-AFF6-E4E7-ACE0-C349BFDF2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A7C82A-D769-4225-1468-5904C5CFC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389DE-4E0B-4B13-8F38-014D6503A94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F2DA5-E2CB-BE28-3AE2-1B704981F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C72F9F-8462-56DA-DF42-45DAABC1B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1E4CF-B1F7-4171-969B-7720C2C830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21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lay.google.com/store/apps/details?id=com.aetn.games.android.history.knightfall.a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apple.com/us/app/my-banuba-family-face-swap/id1468459481" TargetMode="External"/><Relationship Id="rId3" Type="http://schemas.openxmlformats.org/officeDocument/2006/relationships/hyperlink" Target="https://www.snapchat.com/" TargetMode="External"/><Relationship Id="rId7" Type="http://schemas.openxmlformats.org/officeDocument/2006/relationships/hyperlink" Target="https://play.google.com/store/apps/details?id=com.lyrebirdstudio.facelab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s.apple.com/us/app/facelab-old-face-photo-editor/id1530776865" TargetMode="External"/><Relationship Id="rId11" Type="http://schemas.openxmlformats.org/officeDocument/2006/relationships/hyperlink" Target="https://play.google.com/store/apps/details?id=com.cyberlink.youcammakeup" TargetMode="External"/><Relationship Id="rId5" Type="http://schemas.openxmlformats.org/officeDocument/2006/relationships/hyperlink" Target="https://www.tiktok.com/en/" TargetMode="External"/><Relationship Id="rId10" Type="http://schemas.openxmlformats.org/officeDocument/2006/relationships/hyperlink" Target="https://apps.apple.com/us/app/youcam-makeup-selfie-editor/id863844475" TargetMode="External"/><Relationship Id="rId4" Type="http://schemas.openxmlformats.org/officeDocument/2006/relationships/hyperlink" Target="https://www.instagram.com/" TargetMode="External"/><Relationship Id="rId9" Type="http://schemas.openxmlformats.org/officeDocument/2006/relationships/hyperlink" Target="https://play.google.com/store/apps/details?id=com.banuba.tech.demo&amp;hl=e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apple.com/us/app/artivive/id1188737494" TargetMode="External"/><Relationship Id="rId3" Type="http://schemas.openxmlformats.org/officeDocument/2006/relationships/image" Target="../media/image8.svg"/><Relationship Id="rId7" Type="http://schemas.openxmlformats.org/officeDocument/2006/relationships/hyperlink" Target="https://youtu.be/3yc3tjyAdv0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1nZpX9BQEfo" TargetMode="External"/><Relationship Id="rId11" Type="http://schemas.openxmlformats.org/officeDocument/2006/relationships/hyperlink" Target="https://apps.apple.com/us/app/inkhunter-try-tattoo-designs/id991558368" TargetMode="External"/><Relationship Id="rId5" Type="http://schemas.openxmlformats.org/officeDocument/2006/relationships/hyperlink" Target="https://www.youtube.com/watch?v=xBYDmauqdaw" TargetMode="External"/><Relationship Id="rId10" Type="http://schemas.openxmlformats.org/officeDocument/2006/relationships/hyperlink" Target="https://www.youtube.com/watch?v=p_Q7eA-C6X0&amp;t=19s" TargetMode="External"/><Relationship Id="rId4" Type="http://schemas.openxmlformats.org/officeDocument/2006/relationships/hyperlink" Target="https://www.8thwall.com/toolofnorthamerica/pizza-hut-pacman" TargetMode="External"/><Relationship Id="rId9" Type="http://schemas.openxmlformats.org/officeDocument/2006/relationships/hyperlink" Target="https://play.google.com/store/apps/details?id=com.artivive&amp;hl=en_US&amp;gl=US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apple.com/us/app/true/id399563465" TargetMode="External"/><Relationship Id="rId3" Type="http://schemas.openxmlformats.org/officeDocument/2006/relationships/image" Target="../media/image10.svg"/><Relationship Id="rId7" Type="http://schemas.openxmlformats.org/officeDocument/2006/relationships/hyperlink" Target="https://youtu.be/NKdS9xyj6co?t=28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google.com/store/apps/details?id=com.google.android.apps.translate" TargetMode="External"/><Relationship Id="rId11" Type="http://schemas.openxmlformats.org/officeDocument/2006/relationships/hyperlink" Target="https://play.google.com/store/apps/details?id=com.rovio.abar" TargetMode="External"/><Relationship Id="rId5" Type="http://schemas.openxmlformats.org/officeDocument/2006/relationships/hyperlink" Target="https://apps.apple.com/us/app/google-translate/id414706506" TargetMode="External"/><Relationship Id="rId10" Type="http://schemas.openxmlformats.org/officeDocument/2006/relationships/hyperlink" Target="https://apps.apple.com/us/app/angry-birds-ar-isle-of-pigs/id1456120259" TargetMode="External"/><Relationship Id="rId4" Type="http://schemas.openxmlformats.org/officeDocument/2006/relationships/hyperlink" Target="https://www.youtube.com/watch?v=06olHmcJjS0" TargetMode="External"/><Relationship Id="rId9" Type="http://schemas.openxmlformats.org/officeDocument/2006/relationships/hyperlink" Target="https://play.google.com/store/apps/details?id=com.houzz.app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apple.com/us/app/stellarium-mobile-star-map/id1458716890" TargetMode="External"/><Relationship Id="rId3" Type="http://schemas.openxmlformats.org/officeDocument/2006/relationships/image" Target="../media/image12.svg"/><Relationship Id="rId7" Type="http://schemas.openxmlformats.org/officeDocument/2006/relationships/hyperlink" Target="https://www.youtube.com/watch?v=qs0ongkRv1E" TargetMode="External"/><Relationship Id="rId12" Type="http://schemas.openxmlformats.org/officeDocument/2006/relationships/hyperlink" Target="https://play.google.com/store/apps/details?id=com.nianticlabs.pokemong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google.com/store/apps/details?id=app.WTInfoTech.WorldAroundMeLite" TargetMode="External"/><Relationship Id="rId11" Type="http://schemas.openxmlformats.org/officeDocument/2006/relationships/hyperlink" Target="https://apps.apple.com/us/app/pok%C3%A9mon-go/id1094591345" TargetMode="External"/><Relationship Id="rId5" Type="http://schemas.openxmlformats.org/officeDocument/2006/relationships/hyperlink" Target="https://apps.apple.com/app/apple-store/id689722509" TargetMode="External"/><Relationship Id="rId10" Type="http://schemas.openxmlformats.org/officeDocument/2006/relationships/hyperlink" Target="https://www.youtube.com/watch?v=SWtDeeXtMZM&amp;ab_channel=Pok%C3%A9monGO" TargetMode="External"/><Relationship Id="rId4" Type="http://schemas.openxmlformats.org/officeDocument/2006/relationships/hyperlink" Target="https://youtu.be/52BbZHUtdnk?t=18" TargetMode="External"/><Relationship Id="rId9" Type="http://schemas.openxmlformats.org/officeDocument/2006/relationships/hyperlink" Target="https://play.google.com/store/apps/details?id=com.noctuasoftware.stellarium_fre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2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3C8E7-A030-E7E7-6E8D-3F77A1FC2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pt-BR" sz="8000">
                <a:solidFill>
                  <a:srgbClr val="FFFFFF"/>
                </a:solidFill>
              </a:rPr>
              <a:t>Realidade Aumentada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7CC3D4-7FB5-08DF-FE35-7E493197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pt-BR" sz="2000">
                <a:solidFill>
                  <a:srgbClr val="FFFFFF"/>
                </a:solidFill>
              </a:rPr>
              <a:t>Unity</a:t>
            </a:r>
          </a:p>
        </p:txBody>
      </p:sp>
      <p:sp>
        <p:nvSpPr>
          <p:cNvPr id="3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2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4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09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EDD40E-E21B-BF28-4394-06B284B4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BR" sz="5400"/>
              <a:t>Kristal Cart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0AB37-08DD-4B57-B797-6DC8D62D9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t-BR" sz="2200"/>
              <a:t>https://youtu.be/-_t0_96lmfU</a:t>
            </a:r>
          </a:p>
        </p:txBody>
      </p:sp>
      <p:pic>
        <p:nvPicPr>
          <p:cNvPr id="1026" name="Picture 2" descr="Krystal Kart AR - YouTube">
            <a:extLst>
              <a:ext uri="{FF2B5EF4-FFF2-40B4-BE49-F238E27FC236}">
                <a16:creationId xmlns:a16="http://schemas.microsoft.com/office/drawing/2014/main" id="{DBE758B0-D339-D4F9-3755-97E23863E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9" r="16764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87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B5BF8-6A78-30DE-D453-4CBFBEF9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BR" sz="5400" u="sng">
                <a:hlinkClick r:id="rId2"/>
              </a:rPr>
              <a:t>Knightfall AR</a:t>
            </a:r>
            <a:endParaRPr lang="pt-BR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7C235A-2AB3-9069-8EF4-C82D7F51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t-BR" sz="2200"/>
              <a:t>https://youtu.be/JoXiu-2NsPw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4136F0-A444-A973-A425-23E5569C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00" r="787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9062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E57189-66E7-7848-E659-79D70B3E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BR" sz="5400"/>
              <a:t>Angry Birds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1EEE6F-4BA2-1A85-1BD6-2BB6E791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44869" cy="3320668"/>
          </a:xfrm>
        </p:spPr>
        <p:txBody>
          <a:bodyPr>
            <a:normAutofit/>
          </a:bodyPr>
          <a:lstStyle/>
          <a:p>
            <a:r>
              <a:rPr lang="pt-BR" sz="2200" dirty="0"/>
              <a:t>https://youtu.be/NWDptXnBhsM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440031-A741-CE19-6A9E-A1EA25DD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23" r="2105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262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A30AB9-B00C-49C4-10BC-C56D9B68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t-BR" sz="5400"/>
              <a:t>AR Keynote Reel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423726-9A9D-81DC-0C5C-1996EBBD8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t-BR" sz="2200"/>
              <a:t>https://youtu.be/vhEtAAtsOG4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CBABA4-9CAD-8FB0-6F4E-FFD24A838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1" r="1945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0733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568E1C-E022-92D5-7E89-45B85820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3977"/>
            <a:ext cx="4337858" cy="2398713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Realidade Aumentada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C07AC0-BC69-900B-6F16-C1AE554DB9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6"/>
          <a:stretch>
            <a:fillRect/>
          </a:stretch>
        </p:blipFill>
        <p:spPr>
          <a:xfrm>
            <a:off x="2" y="10"/>
            <a:ext cx="12191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6B1743-CE45-322B-039E-E359138E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503" y="3255667"/>
            <a:ext cx="8380326" cy="333605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t-BR" sz="1600" b="1" dirty="0"/>
              <a:t>Realidade aumentada</a:t>
            </a:r>
            <a:r>
              <a:rPr lang="pt-BR" sz="1600" dirty="0"/>
              <a:t> ( </a:t>
            </a:r>
            <a:r>
              <a:rPr lang="pt-BR" sz="1600" b="1" dirty="0"/>
              <a:t>RA</a:t>
            </a:r>
            <a:r>
              <a:rPr lang="pt-BR" sz="1600" dirty="0"/>
              <a:t> ) sobrepõe conteúdo criado digitalmente ao ambiente real do usuário.</a:t>
            </a:r>
          </a:p>
          <a:p>
            <a:endParaRPr lang="pt-BR" sz="1600" dirty="0"/>
          </a:p>
          <a:p>
            <a:pPr marL="0" indent="0">
              <a:buNone/>
            </a:pPr>
            <a:r>
              <a:rPr lang="pt-BR" sz="1600" dirty="0"/>
              <a:t>A realidade aumentada (RA) faz parte da categoria mais ampla de realidade estendida ( XR ) , um termo abrangente que engloba RA, RV (realidade virtual) e RM (realidade mista):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A realidade virtual (RV) substitui todo o campo visual do usuário por um campo virtual. Isso é diferente da realidade aumentada (RA), onde você ainda vê o ambiente ao seu redor, mas com conteúdo virtual sobreposto. Confira alguns exemplos de projetos de RV criados com Unity .</a:t>
            </a:r>
          </a:p>
          <a:p>
            <a:pPr marL="0" indent="0">
              <a:buNone/>
            </a:pPr>
            <a:r>
              <a:rPr lang="pt-BR" sz="1600" dirty="0"/>
              <a:t>Dentre os três, MR é o termo mais abrangente, pois pode incluir elementos de AR e VR. É mais útil pensar em AR, MR e VR como um espectro entre realidade e virtualidade, com o ambiente físico real em uma extremidade e ambientes completamente virtuais na outra.</a:t>
            </a:r>
          </a:p>
        </p:txBody>
      </p:sp>
    </p:spTree>
    <p:extLst>
      <p:ext uri="{BB962C8B-B14F-4D97-AF65-F5344CB8AC3E}">
        <p14:creationId xmlns:p14="http://schemas.microsoft.com/office/powerpoint/2010/main" val="169212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4DE47-9741-D2FC-1FB4-2CC11B7FA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pt-BR" sz="3200"/>
              <a:t>Filtros faciais de realidade aumentada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CD507-79F5-2D2E-7C6D-052684A48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00" r="800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3423B-E3F5-AF45-2AA7-2795E24AD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pt-BR" sz="1900" b="0" i="0">
                <a:effectLst/>
                <a:latin typeface="Inter"/>
              </a:rPr>
              <a:t>Esses aplicativos reconhecem rostos humanos e sobrepõem conteúdo digital a características faciais específicas: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Inter"/>
              </a:rPr>
              <a:t>Redes sociais com filtros ( </a:t>
            </a:r>
            <a:r>
              <a:rPr lang="pt-BR" sz="1900" b="0" i="0" u="sng">
                <a:effectLst/>
                <a:latin typeface="Inter"/>
                <a:hlinkClick r:id="rId3"/>
              </a:rPr>
              <a:t>Snapchat</a:t>
            </a:r>
            <a:r>
              <a:rPr lang="pt-BR" sz="1900" b="0" i="0">
                <a:effectLst/>
                <a:latin typeface="Inter"/>
              </a:rPr>
              <a:t> , </a:t>
            </a:r>
            <a:r>
              <a:rPr lang="pt-BR" sz="1900" b="0" i="0" u="sng">
                <a:effectLst/>
                <a:latin typeface="Inter"/>
                <a:hlinkClick r:id="rId4"/>
              </a:rPr>
              <a:t>Instagram</a:t>
            </a:r>
            <a:r>
              <a:rPr lang="pt-BR" sz="1900" b="0" i="0">
                <a:effectLst/>
                <a:latin typeface="Inter"/>
              </a:rPr>
              <a:t> , </a:t>
            </a:r>
            <a:r>
              <a:rPr lang="pt-BR" sz="1900" b="0" i="0" u="sng">
                <a:effectLst/>
                <a:latin typeface="Inter"/>
                <a:hlinkClick r:id="rId5"/>
              </a:rPr>
              <a:t>TikTok</a:t>
            </a:r>
            <a:r>
              <a:rPr lang="pt-BR" sz="1900" b="0" i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Inter"/>
              </a:rPr>
              <a:t>Filtros faciais divertidos (FaceLab </a:t>
            </a:r>
            <a:r>
              <a:rPr lang="pt-BR" sz="1900" b="0" i="0" u="sng">
                <a:effectLst/>
                <a:latin typeface="Inter"/>
                <a:hlinkClick r:id="rId6"/>
              </a:rPr>
              <a:t>iOS</a:t>
            </a:r>
            <a:r>
              <a:rPr lang="pt-BR" sz="1900" b="0" i="0">
                <a:effectLst/>
                <a:latin typeface="Inter"/>
              </a:rPr>
              <a:t> | </a:t>
            </a:r>
            <a:r>
              <a:rPr lang="pt-BR" sz="1900" b="0" i="0" u="sng">
                <a:effectLst/>
                <a:latin typeface="Inter"/>
                <a:hlinkClick r:id="rId7"/>
              </a:rPr>
              <a:t>Android</a:t>
            </a:r>
            <a:r>
              <a:rPr lang="pt-BR" sz="1900" b="0" i="0">
                <a:effectLst/>
                <a:latin typeface="Inter"/>
              </a:rPr>
              <a:t> , Banuba </a:t>
            </a:r>
            <a:r>
              <a:rPr lang="pt-BR" sz="1900" b="0" i="0" u="sng">
                <a:effectLst/>
                <a:latin typeface="Inter"/>
                <a:hlinkClick r:id="rId8"/>
              </a:rPr>
              <a:t>iOS</a:t>
            </a:r>
            <a:r>
              <a:rPr lang="pt-BR" sz="1900" b="0" i="0">
                <a:effectLst/>
                <a:latin typeface="Inter"/>
              </a:rPr>
              <a:t> | </a:t>
            </a:r>
            <a:r>
              <a:rPr lang="pt-BR" sz="1900" b="0" i="0" u="sng">
                <a:effectLst/>
                <a:latin typeface="Inter"/>
                <a:hlinkClick r:id="rId9"/>
              </a:rPr>
              <a:t>Android</a:t>
            </a:r>
            <a:r>
              <a:rPr lang="pt-BR" sz="1900" b="0" i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Inter"/>
              </a:rPr>
              <a:t>Filtros de maquiagem e cabelo (YouCam Makeup </a:t>
            </a:r>
            <a:r>
              <a:rPr lang="pt-BR" sz="1900" b="0" i="0" u="sng">
                <a:effectLst/>
                <a:latin typeface="Inter"/>
                <a:hlinkClick r:id="rId10"/>
              </a:rPr>
              <a:t>iOS</a:t>
            </a:r>
            <a:r>
              <a:rPr lang="pt-BR" sz="1900" b="0" i="0">
                <a:effectLst/>
                <a:latin typeface="Inter"/>
              </a:rPr>
              <a:t> | </a:t>
            </a:r>
            <a:r>
              <a:rPr lang="pt-BR" sz="1900" b="0" i="0" u="sng">
                <a:effectLst/>
                <a:latin typeface="Inter"/>
                <a:hlinkClick r:id="rId11"/>
              </a:rPr>
              <a:t>Android</a:t>
            </a:r>
            <a:r>
              <a:rPr lang="pt-BR" sz="1900" b="0" i="0">
                <a:effectLst/>
                <a:latin typeface="Inter"/>
              </a:rPr>
              <a:t> )</a:t>
            </a:r>
          </a:p>
          <a:p>
            <a:endParaRPr lang="pt-BR" sz="1900"/>
          </a:p>
        </p:txBody>
      </p:sp>
    </p:spTree>
    <p:extLst>
      <p:ext uri="{BB962C8B-B14F-4D97-AF65-F5344CB8AC3E}">
        <p14:creationId xmlns:p14="http://schemas.microsoft.com/office/powerpoint/2010/main" val="386472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40AC52-A46E-5017-F111-FF1CD451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169" y="340810"/>
            <a:ext cx="10001589" cy="951051"/>
          </a:xfrm>
        </p:spPr>
        <p:txBody>
          <a:bodyPr anchor="b">
            <a:normAutofit/>
          </a:bodyPr>
          <a:lstStyle/>
          <a:p>
            <a:r>
              <a:rPr lang="pt-BR" sz="4000" dirty="0"/>
              <a:t>Realidade Aumentada baseada em marcadores</a:t>
            </a:r>
          </a:p>
        </p:txBody>
      </p:sp>
      <p:pic>
        <p:nvPicPr>
          <p:cNvPr id="7" name="Graphic 6" descr="Código QR">
            <a:extLst>
              <a:ext uri="{FF2B5EF4-FFF2-40B4-BE49-F238E27FC236}">
                <a16:creationId xmlns:a16="http://schemas.microsoft.com/office/drawing/2014/main" id="{E346E45F-618D-09CB-CD46-EEB753593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174" y="217071"/>
            <a:ext cx="1198532" cy="11985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C3BB4-7F18-D3A0-D547-A87395E96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74" y="1978243"/>
            <a:ext cx="10558385" cy="26402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b="0" i="0" dirty="0">
                <a:effectLst/>
                <a:latin typeface="Inter"/>
              </a:rPr>
              <a:t>Esses aplicativos reconhecem uma imagem, padrão ou código QR específico e, em seguida, sobrepõem conteúdo a essa imagem: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Inter"/>
              </a:rPr>
              <a:t>Marketing e jogos ( </a:t>
            </a:r>
            <a:r>
              <a:rPr lang="pt-BR" sz="2400" b="0" i="0" u="sng" dirty="0">
                <a:effectLst/>
                <a:latin typeface="Inter"/>
                <a:hlinkClick r:id="rId4"/>
              </a:rPr>
              <a:t>Pizza Hut </a:t>
            </a:r>
            <a:r>
              <a:rPr lang="pt-BR" sz="2400" b="0" i="0" u="sng" dirty="0" err="1">
                <a:effectLst/>
                <a:latin typeface="Inter"/>
                <a:hlinkClick r:id="rId4"/>
              </a:rPr>
              <a:t>Pac</a:t>
            </a:r>
            <a:r>
              <a:rPr lang="pt-BR" sz="2400" b="0" i="0" u="sng" dirty="0">
                <a:effectLst/>
                <a:latin typeface="Inter"/>
                <a:hlinkClick r:id="rId4"/>
              </a:rPr>
              <a:t> Man</a:t>
            </a:r>
            <a:r>
              <a:rPr lang="pt-BR" sz="2400" b="0" i="0" dirty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Inter"/>
              </a:rPr>
              <a:t>Forneça informações adicionais ( </a:t>
            </a:r>
            <a:r>
              <a:rPr lang="pt-BR" sz="2400" b="0" i="0" u="sng" dirty="0">
                <a:effectLst/>
                <a:latin typeface="Inter"/>
                <a:hlinkClick r:id="rId5"/>
              </a:rPr>
              <a:t>cartões de visita</a:t>
            </a:r>
            <a:r>
              <a:rPr lang="pt-BR" sz="2400" b="0" i="0" dirty="0">
                <a:effectLst/>
                <a:latin typeface="Inter"/>
              </a:rPr>
              <a:t> , </a:t>
            </a:r>
            <a:r>
              <a:rPr lang="pt-BR" sz="2400" b="0" i="0" u="sng" dirty="0">
                <a:effectLst/>
                <a:latin typeface="Inter"/>
                <a:hlinkClick r:id="rId6"/>
              </a:rPr>
              <a:t>demonstrações médicas</a:t>
            </a:r>
            <a:r>
              <a:rPr lang="pt-BR" sz="2400" b="0" i="0" dirty="0">
                <a:effectLst/>
                <a:latin typeface="Inter"/>
              </a:rPr>
              <a:t> 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Inter"/>
              </a:rPr>
              <a:t>Arte ( </a:t>
            </a:r>
            <a:r>
              <a:rPr lang="pt-BR" sz="2400" b="0" i="0" u="sng" dirty="0">
                <a:effectLst/>
                <a:latin typeface="Inter"/>
                <a:hlinkClick r:id="rId7"/>
              </a:rPr>
              <a:t>demonstração</a:t>
            </a:r>
            <a:r>
              <a:rPr lang="pt-BR" sz="2400" b="0" i="0" dirty="0">
                <a:effectLst/>
                <a:latin typeface="Inter"/>
              </a:rPr>
              <a:t> do </a:t>
            </a:r>
            <a:r>
              <a:rPr lang="pt-BR" sz="2400" b="0" i="0" dirty="0" err="1">
                <a:effectLst/>
                <a:latin typeface="Inter"/>
              </a:rPr>
              <a:t>ArtVive</a:t>
            </a:r>
            <a:r>
              <a:rPr lang="pt-BR" sz="2400" b="0" i="0" dirty="0">
                <a:effectLst/>
                <a:latin typeface="Inter"/>
              </a:rPr>
              <a:t> | </a:t>
            </a:r>
            <a:r>
              <a:rPr lang="pt-BR" sz="2400" b="0" i="0" u="sng" dirty="0">
                <a:effectLst/>
                <a:latin typeface="Inter"/>
                <a:hlinkClick r:id="rId8"/>
              </a:rPr>
              <a:t>iOS</a:t>
            </a:r>
            <a:r>
              <a:rPr lang="pt-BR" sz="2400" b="0" i="0" dirty="0">
                <a:effectLst/>
                <a:latin typeface="Inter"/>
              </a:rPr>
              <a:t> | </a:t>
            </a:r>
            <a:r>
              <a:rPr lang="pt-BR" sz="2400" b="0" i="0" u="sng" dirty="0">
                <a:effectLst/>
                <a:latin typeface="Inter"/>
                <a:hlinkClick r:id="rId9"/>
              </a:rPr>
              <a:t>Android</a:t>
            </a:r>
            <a:r>
              <a:rPr lang="pt-BR" sz="2400" b="0" i="0" dirty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Inter"/>
              </a:rPr>
              <a:t>Utilitário ( </a:t>
            </a:r>
            <a:r>
              <a:rPr lang="pt-BR" sz="2400" b="0" i="0" u="sng" dirty="0">
                <a:effectLst/>
                <a:latin typeface="Inter"/>
                <a:hlinkClick r:id="rId10"/>
              </a:rPr>
              <a:t>demonstração</a:t>
            </a:r>
            <a:r>
              <a:rPr lang="pt-BR" sz="2400" b="0" i="0" dirty="0">
                <a:effectLst/>
                <a:latin typeface="Inter"/>
              </a:rPr>
              <a:t> do </a:t>
            </a:r>
            <a:r>
              <a:rPr lang="pt-BR" sz="2400" b="0" i="0" dirty="0" err="1">
                <a:effectLst/>
                <a:latin typeface="Inter"/>
              </a:rPr>
              <a:t>Inkhunter</a:t>
            </a:r>
            <a:r>
              <a:rPr lang="pt-BR" sz="2400" b="0" i="0" dirty="0">
                <a:effectLst/>
                <a:latin typeface="Inter"/>
              </a:rPr>
              <a:t> | </a:t>
            </a:r>
            <a:r>
              <a:rPr lang="pt-BR" sz="2400" b="0" i="0" u="sng" dirty="0">
                <a:effectLst/>
                <a:latin typeface="Inter"/>
                <a:hlinkClick r:id="rId11"/>
              </a:rPr>
              <a:t>iOS</a:t>
            </a:r>
            <a:r>
              <a:rPr lang="pt-BR" sz="2400" b="0" i="0" dirty="0">
                <a:effectLst/>
                <a:latin typeface="Inter"/>
              </a:rPr>
              <a:t> )</a:t>
            </a:r>
          </a:p>
          <a:p>
            <a:endParaRPr lang="pt-BR" sz="2400" dirty="0"/>
          </a:p>
        </p:txBody>
      </p:sp>
      <p:pic>
        <p:nvPicPr>
          <p:cNvPr id="9" name="Graphic 8" descr="Código QR">
            <a:extLst>
              <a:ext uri="{FF2B5EF4-FFF2-40B4-BE49-F238E27FC236}">
                <a16:creationId xmlns:a16="http://schemas.microsoft.com/office/drawing/2014/main" id="{9032307F-4A95-476C-94CC-865DD4AA6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9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705A1B-953F-E08D-D582-E5EF0A8D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108" y="434142"/>
            <a:ext cx="5801917" cy="1198532"/>
          </a:xfrm>
        </p:spPr>
        <p:txBody>
          <a:bodyPr anchor="b">
            <a:normAutofit/>
          </a:bodyPr>
          <a:lstStyle/>
          <a:p>
            <a:r>
              <a:rPr lang="pt-BR" sz="4000" dirty="0"/>
              <a:t>Realidade Aumentada sem Marcadores</a:t>
            </a:r>
          </a:p>
        </p:txBody>
      </p:sp>
      <p:pic>
        <p:nvPicPr>
          <p:cNvPr id="7" name="Graphic 6" descr="Marcador">
            <a:extLst>
              <a:ext uri="{FF2B5EF4-FFF2-40B4-BE49-F238E27FC236}">
                <a16:creationId xmlns:a16="http://schemas.microsoft.com/office/drawing/2014/main" id="{F9E1BFA7-8990-6161-D528-403233DBC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242" y="217071"/>
            <a:ext cx="1198532" cy="11985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98D0E-E7A6-CBCE-3F55-28FBBCE6C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5" y="2014870"/>
            <a:ext cx="10761783" cy="41142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000" b="0" i="0" dirty="0">
                <a:effectLst/>
                <a:latin typeface="Inter"/>
              </a:rPr>
              <a:t>Ao contrário da RA baseada em marcadores, a RA sem marcadores não requer nenhuma imagem específica para orientar e posicionar o conteúdo adequadamente no ambiente 3D do usuário: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0" i="0" dirty="0">
                <a:effectLst/>
                <a:latin typeface="Inter"/>
              </a:rPr>
              <a:t>Utilitário ( </a:t>
            </a:r>
            <a:r>
              <a:rPr lang="pt-BR" sz="2000" b="0" i="0" u="sng" dirty="0">
                <a:effectLst/>
                <a:latin typeface="Inter"/>
                <a:hlinkClick r:id="rId4"/>
              </a:rPr>
              <a:t>Demonstração</a:t>
            </a:r>
            <a:r>
              <a:rPr lang="pt-BR" sz="2000" b="0" i="0" dirty="0">
                <a:effectLst/>
                <a:latin typeface="Inter"/>
              </a:rPr>
              <a:t> de Realidade Aumentada do Google Tradutor | </a:t>
            </a:r>
            <a:r>
              <a:rPr lang="pt-BR" sz="2000" b="0" i="0" u="sng" dirty="0">
                <a:effectLst/>
                <a:latin typeface="Inter"/>
                <a:hlinkClick r:id="rId5"/>
              </a:rPr>
              <a:t>iOS</a:t>
            </a:r>
            <a:r>
              <a:rPr lang="pt-BR" sz="2000" b="0" i="0" dirty="0">
                <a:effectLst/>
                <a:latin typeface="Inter"/>
              </a:rPr>
              <a:t> | </a:t>
            </a:r>
            <a:r>
              <a:rPr lang="pt-BR" sz="2000" b="0" i="0" u="sng" dirty="0">
                <a:effectLst/>
                <a:latin typeface="Inter"/>
                <a:hlinkClick r:id="rId6"/>
              </a:rPr>
              <a:t>Android</a:t>
            </a:r>
            <a:r>
              <a:rPr lang="pt-BR" sz="2000" b="0" i="0" dirty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0" i="0" dirty="0">
                <a:effectLst/>
                <a:latin typeface="Inter"/>
              </a:rPr>
              <a:t>Design ( </a:t>
            </a:r>
            <a:r>
              <a:rPr lang="pt-BR" sz="2000" b="0" i="0" u="sng" dirty="0">
                <a:effectLst/>
                <a:latin typeface="Inter"/>
                <a:hlinkClick r:id="rId7"/>
              </a:rPr>
              <a:t>Demonstração</a:t>
            </a:r>
            <a:r>
              <a:rPr lang="pt-BR" sz="2000" b="0" i="0" dirty="0">
                <a:effectLst/>
                <a:latin typeface="Inter"/>
              </a:rPr>
              <a:t> no </a:t>
            </a:r>
            <a:r>
              <a:rPr lang="pt-BR" sz="2000" b="0" i="0" dirty="0" err="1">
                <a:effectLst/>
                <a:latin typeface="Inter"/>
              </a:rPr>
              <a:t>Houzz</a:t>
            </a:r>
            <a:r>
              <a:rPr lang="pt-BR" sz="2000" b="0" i="0" dirty="0">
                <a:effectLst/>
                <a:latin typeface="Inter"/>
              </a:rPr>
              <a:t> | </a:t>
            </a:r>
            <a:r>
              <a:rPr lang="pt-BR" sz="2000" b="0" i="0" u="sng" dirty="0">
                <a:effectLst/>
                <a:latin typeface="Inter"/>
                <a:hlinkClick r:id="rId8"/>
              </a:rPr>
              <a:t>iOS</a:t>
            </a:r>
            <a:r>
              <a:rPr lang="pt-BR" sz="2000" b="0" i="0" dirty="0">
                <a:effectLst/>
                <a:latin typeface="Inter"/>
              </a:rPr>
              <a:t> | </a:t>
            </a:r>
            <a:r>
              <a:rPr lang="pt-BR" sz="2000" b="0" i="0" u="sng" dirty="0">
                <a:effectLst/>
                <a:latin typeface="Inter"/>
                <a:hlinkClick r:id="rId9"/>
              </a:rPr>
              <a:t>Android</a:t>
            </a:r>
            <a:r>
              <a:rPr lang="pt-BR" sz="2000" b="0" i="0" dirty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0" i="0" dirty="0">
                <a:effectLst/>
                <a:latin typeface="Inter"/>
              </a:rPr>
              <a:t>Diversão (</a:t>
            </a:r>
            <a:r>
              <a:rPr lang="pt-BR" sz="2000" b="0" i="0" dirty="0" err="1">
                <a:effectLst/>
                <a:latin typeface="Inter"/>
              </a:rPr>
              <a:t>Angry</a:t>
            </a:r>
            <a:r>
              <a:rPr lang="pt-BR" sz="2000" b="0" i="0" dirty="0">
                <a:effectLst/>
                <a:latin typeface="Inter"/>
              </a:rPr>
              <a:t> Birds: AR </a:t>
            </a:r>
            <a:r>
              <a:rPr lang="pt-BR" sz="2000" b="0" i="0" u="sng" dirty="0">
                <a:effectLst/>
                <a:latin typeface="Inter"/>
                <a:hlinkClick r:id="rId10"/>
              </a:rPr>
              <a:t>iOS</a:t>
            </a:r>
            <a:r>
              <a:rPr lang="pt-BR" sz="2000" b="0" i="0" dirty="0">
                <a:effectLst/>
                <a:latin typeface="Inter"/>
              </a:rPr>
              <a:t> | </a:t>
            </a:r>
            <a:r>
              <a:rPr lang="pt-BR" sz="2000" b="0" i="0" u="sng" dirty="0">
                <a:effectLst/>
                <a:latin typeface="Inter"/>
                <a:hlinkClick r:id="rId11"/>
              </a:rPr>
              <a:t>Android</a:t>
            </a:r>
            <a:r>
              <a:rPr lang="pt-BR" sz="2000" b="0" i="0" dirty="0">
                <a:effectLst/>
                <a:latin typeface="Inter"/>
              </a:rPr>
              <a:t> )</a:t>
            </a:r>
          </a:p>
          <a:p>
            <a:endParaRPr lang="pt-BR" sz="2000" dirty="0"/>
          </a:p>
        </p:txBody>
      </p:sp>
      <p:pic>
        <p:nvPicPr>
          <p:cNvPr id="9" name="Graphic 8" descr="Marcador">
            <a:extLst>
              <a:ext uri="{FF2B5EF4-FFF2-40B4-BE49-F238E27FC236}">
                <a16:creationId xmlns:a16="http://schemas.microsoft.com/office/drawing/2014/main" id="{32692E2A-0418-4CAF-BF7B-D887BA717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5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6F7385-C8B2-4A0C-EC18-E9F8CA6B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532" y="217071"/>
            <a:ext cx="5801917" cy="1443420"/>
          </a:xfrm>
        </p:spPr>
        <p:txBody>
          <a:bodyPr anchor="b">
            <a:normAutofit/>
          </a:bodyPr>
          <a:lstStyle/>
          <a:p>
            <a:r>
              <a:rPr lang="pt-BR" sz="4000" dirty="0"/>
              <a:t>Realidade Aumentada baseada em localização</a:t>
            </a:r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47FC5248-CF94-CF8E-5D5D-612826CD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17071"/>
            <a:ext cx="1198532" cy="11985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0E68A6-89E0-C7AD-8561-DCE78CAC4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57" y="1877562"/>
            <a:ext cx="11125799" cy="40710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b="0" i="0">
                <a:effectLst/>
                <a:latin typeface="Inter"/>
              </a:rPr>
              <a:t>Diferentemente dos aplicativos mencionados anteriormente, estes levam em consideração sua localização GPS, frequentemente combinada com a análise do ambiente, para sobrepor conteúdo à cena: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>
                <a:effectLst/>
                <a:latin typeface="Inter"/>
              </a:rPr>
              <a:t>Turismo ( </a:t>
            </a:r>
            <a:r>
              <a:rPr lang="pt-BR" sz="2400" b="0" i="0" u="sng">
                <a:effectLst/>
                <a:latin typeface="Inter"/>
                <a:hlinkClick r:id="rId4"/>
              </a:rPr>
              <a:t>Demonstração</a:t>
            </a:r>
            <a:r>
              <a:rPr lang="pt-BR" sz="2400" b="0" i="0">
                <a:effectLst/>
                <a:latin typeface="Inter"/>
              </a:rPr>
              <a:t> do Mundo ao Meu Redor | </a:t>
            </a:r>
            <a:r>
              <a:rPr lang="pt-BR" sz="2400" b="0" i="0" u="sng">
                <a:effectLst/>
                <a:latin typeface="Inter"/>
                <a:hlinkClick r:id="rId5"/>
              </a:rPr>
              <a:t>iOS</a:t>
            </a:r>
            <a:r>
              <a:rPr lang="pt-BR" sz="2400" b="0" i="0">
                <a:effectLst/>
                <a:latin typeface="Inter"/>
              </a:rPr>
              <a:t> | </a:t>
            </a:r>
            <a:r>
              <a:rPr lang="pt-BR" sz="2400" b="0" i="0" u="sng">
                <a:effectLst/>
                <a:latin typeface="Inter"/>
                <a:hlinkClick r:id="rId6"/>
              </a:rPr>
              <a:t>Android</a:t>
            </a:r>
            <a:r>
              <a:rPr lang="pt-BR" sz="2400" b="0" i="0">
                <a:effectLst/>
                <a:latin typeface="Inter"/>
              </a:rPr>
              <a:t> 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0" i="0">
                <a:effectLst/>
                <a:latin typeface="Inter"/>
              </a:rPr>
              <a:t>Educação ( </a:t>
            </a:r>
            <a:r>
              <a:rPr lang="pt-BR" sz="2400" b="0" i="0" u="sng">
                <a:effectLst/>
                <a:latin typeface="Inter"/>
                <a:hlinkClick r:id="rId7"/>
              </a:rPr>
              <a:t>demonstração</a:t>
            </a:r>
            <a:r>
              <a:rPr lang="pt-BR" sz="2400" b="0" i="0">
                <a:effectLst/>
                <a:latin typeface="Inter"/>
              </a:rPr>
              <a:t> do Stellarium | </a:t>
            </a:r>
            <a:r>
              <a:rPr lang="pt-BR" sz="2400" b="0" i="0" u="sng">
                <a:effectLst/>
                <a:latin typeface="Inter"/>
                <a:hlinkClick r:id="rId8"/>
              </a:rPr>
              <a:t>iOS</a:t>
            </a:r>
            <a:r>
              <a:rPr lang="pt-BR" sz="2400" b="0" i="0">
                <a:effectLst/>
                <a:latin typeface="Inter"/>
              </a:rPr>
              <a:t> | </a:t>
            </a:r>
            <a:r>
              <a:rPr lang="pt-BR" sz="2400" b="0" i="0" u="sng">
                <a:effectLst/>
                <a:latin typeface="Inter"/>
                <a:hlinkClick r:id="rId9"/>
              </a:rPr>
              <a:t>Android</a:t>
            </a:r>
            <a:r>
              <a:rPr lang="pt-BR" sz="2400" b="0" i="0">
                <a:effectLst/>
                <a:latin typeface="Inter"/>
              </a:rPr>
              <a:t> )</a:t>
            </a:r>
          </a:p>
          <a:p>
            <a:pPr>
              <a:buNone/>
            </a:pPr>
            <a:r>
              <a:rPr lang="pt-BR" sz="2400" b="0" i="0" u="sng">
                <a:effectLst/>
                <a:latin typeface="Inter"/>
                <a:hlinkClick r:id="rId10"/>
              </a:rPr>
              <a:t>Entretenimento ( demo</a:t>
            </a:r>
            <a:r>
              <a:rPr lang="pt-BR" sz="2400" b="0" i="0">
                <a:effectLst/>
                <a:latin typeface="Inter"/>
              </a:rPr>
              <a:t> de Pokémon Go | </a:t>
            </a:r>
            <a:r>
              <a:rPr lang="pt-BR" sz="2400" b="0" i="0" u="sng">
                <a:effectLst/>
                <a:latin typeface="Inter"/>
                <a:hlinkClick r:id="rId11"/>
              </a:rPr>
              <a:t>iOS</a:t>
            </a:r>
            <a:r>
              <a:rPr lang="pt-BR" sz="2400" b="0" i="0">
                <a:effectLst/>
                <a:latin typeface="Inter"/>
              </a:rPr>
              <a:t> | </a:t>
            </a:r>
            <a:r>
              <a:rPr lang="pt-BR" sz="2400" b="0" i="0" u="sng">
                <a:effectLst/>
                <a:latin typeface="Inter"/>
                <a:hlinkClick r:id="rId12"/>
              </a:rPr>
              <a:t>Android</a:t>
            </a:r>
            <a:r>
              <a:rPr lang="pt-BR" sz="2400" b="0" i="0">
                <a:effectLst/>
                <a:latin typeface="Inter"/>
              </a:rPr>
              <a:t> )</a:t>
            </a:r>
          </a:p>
          <a:p>
            <a:pPr>
              <a:buNone/>
            </a:pPr>
            <a:r>
              <a:rPr lang="pt-BR" sz="2400" b="0" i="0">
                <a:effectLst/>
                <a:latin typeface="Inter"/>
              </a:rPr>
              <a:t>Avalie as experiências de RA (Realidade Aumentada).</a:t>
            </a:r>
          </a:p>
          <a:p>
            <a:endParaRPr lang="pt-BR" sz="2400"/>
          </a:p>
        </p:txBody>
      </p:sp>
      <p:pic>
        <p:nvPicPr>
          <p:cNvPr id="9" name="Graphic 8" descr="Smart Phone">
            <a:extLst>
              <a:ext uri="{FF2B5EF4-FFF2-40B4-BE49-F238E27FC236}">
                <a16:creationId xmlns:a16="http://schemas.microsoft.com/office/drawing/2014/main" id="{D0C6ECA5-B44B-4730-AFEA-8194E4F6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3A7D9-A0F9-A7C1-3156-6E06EA5E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pt-BR" sz="400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2560A6-2863-73EA-65DB-39E9038B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552" y="1676400"/>
            <a:ext cx="7958294" cy="3505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Inter"/>
              </a:rPr>
              <a:t>Tendo em mente os exemplos acima, reserve um momento para considerar as seguintes questões: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Inter"/>
              </a:rPr>
              <a:t>Quais são algumas características recorrentes nesses aplicativos?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Inter"/>
              </a:rPr>
              <a:t>Para que tipos de experiências a realidade aumentada é a solução mais adequada?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Inter"/>
              </a:rPr>
              <a:t>Quais são os casos de uso (se houver) em que a RA não funcionaria de forma alguma? Se não, por quê?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Inter"/>
              </a:rPr>
              <a:t>Quais são as vantagens e limitações da RA como meio de expressão?</a:t>
            </a:r>
          </a:p>
          <a:p>
            <a:endParaRPr lang="pt-BR" sz="19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43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FA0732-2571-82F8-41D1-65CFED71F976}"/>
              </a:ext>
            </a:extLst>
          </p:cNvPr>
          <p:cNvSpPr txBox="1"/>
          <p:nvPr/>
        </p:nvSpPr>
        <p:spPr>
          <a:xfrm>
            <a:off x="76200" y="763675"/>
            <a:ext cx="5014128" cy="55317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 o </a:t>
            </a:r>
            <a:r>
              <a:rPr lang="en-US" sz="2400" dirty="0" err="1">
                <a:solidFill>
                  <a:srgbClr val="FFFFFF"/>
                </a:solidFill>
              </a:rPr>
              <a:t>seu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computador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usa</a:t>
            </a:r>
            <a:r>
              <a:rPr lang="en-US" sz="2400" dirty="0">
                <a:solidFill>
                  <a:srgbClr val="FFFFFF"/>
                </a:solidFill>
              </a:rPr>
              <a:t> macOS (</a:t>
            </a:r>
            <a:r>
              <a:rPr lang="en-US" sz="2400" dirty="0" err="1">
                <a:solidFill>
                  <a:srgbClr val="FFFFFF"/>
                </a:solidFill>
              </a:rPr>
              <a:t>qualquer</a:t>
            </a:r>
            <a:r>
              <a:rPr lang="en-US" sz="2400" dirty="0">
                <a:solidFill>
                  <a:srgbClr val="FFFFFF"/>
                </a:solidFill>
              </a:rPr>
              <a:t> Mac), </a:t>
            </a:r>
            <a:r>
              <a:rPr lang="en-US" sz="2400" dirty="0" err="1">
                <a:solidFill>
                  <a:srgbClr val="FFFFFF"/>
                </a:solidFill>
              </a:rPr>
              <a:t>você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pode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distribuir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aplicativos</a:t>
            </a:r>
            <a:r>
              <a:rPr lang="en-US" sz="2400" dirty="0">
                <a:solidFill>
                  <a:srgbClr val="FFFFFF"/>
                </a:solidFill>
              </a:rPr>
              <a:t> para </a:t>
            </a:r>
            <a:r>
              <a:rPr lang="en-US" sz="2400" dirty="0" err="1">
                <a:solidFill>
                  <a:srgbClr val="FFFFFF"/>
                </a:solidFill>
              </a:rPr>
              <a:t>dispositivos</a:t>
            </a:r>
            <a:r>
              <a:rPr lang="en-US" sz="2400" dirty="0">
                <a:solidFill>
                  <a:srgbClr val="FFFFFF"/>
                </a:solidFill>
              </a:rPr>
              <a:t> Android e iOS.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</a:t>
            </a:r>
            <a:r>
              <a:rPr lang="en-US" sz="2400" dirty="0" err="1">
                <a:solidFill>
                  <a:srgbClr val="FFFFFF"/>
                </a:solidFill>
              </a:rPr>
              <a:t>entanto</a:t>
            </a:r>
            <a:r>
              <a:rPr lang="en-US" sz="2400" dirty="0">
                <a:solidFill>
                  <a:srgbClr val="FFFFFF"/>
                </a:solidFill>
              </a:rPr>
              <a:t>, se o </a:t>
            </a:r>
            <a:r>
              <a:rPr lang="en-US" sz="2400" dirty="0" err="1">
                <a:solidFill>
                  <a:srgbClr val="FFFFFF"/>
                </a:solidFill>
              </a:rPr>
              <a:t>seu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computador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usa</a:t>
            </a:r>
            <a:r>
              <a:rPr lang="en-US" sz="2400" dirty="0">
                <a:solidFill>
                  <a:srgbClr val="FFFFFF"/>
                </a:solidFill>
              </a:rPr>
              <a:t> Windows (a </a:t>
            </a:r>
            <a:r>
              <a:rPr lang="en-US" sz="2400" dirty="0" err="1">
                <a:solidFill>
                  <a:srgbClr val="FFFFFF"/>
                </a:solidFill>
              </a:rPr>
              <a:t>maioria</a:t>
            </a:r>
            <a:r>
              <a:rPr lang="en-US" sz="2400" dirty="0">
                <a:solidFill>
                  <a:srgbClr val="FFFFFF"/>
                </a:solidFill>
              </a:rPr>
              <a:t> dos </a:t>
            </a:r>
            <a:r>
              <a:rPr lang="en-US" sz="2400" dirty="0" err="1">
                <a:solidFill>
                  <a:srgbClr val="FFFFFF"/>
                </a:solidFill>
              </a:rPr>
              <a:t>computadores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que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não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são</a:t>
            </a:r>
            <a:r>
              <a:rPr lang="en-US" sz="2400" dirty="0">
                <a:solidFill>
                  <a:srgbClr val="FFFFFF"/>
                </a:solidFill>
              </a:rPr>
              <a:t> Mac), </a:t>
            </a:r>
            <a:r>
              <a:rPr lang="en-US" sz="2400" dirty="0" err="1">
                <a:solidFill>
                  <a:srgbClr val="FFFFFF"/>
                </a:solidFill>
              </a:rPr>
              <a:t>você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só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pode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distribuir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aplicativos</a:t>
            </a:r>
            <a:r>
              <a:rPr lang="en-US" sz="2400" dirty="0">
                <a:solidFill>
                  <a:srgbClr val="FFFFFF"/>
                </a:solidFill>
              </a:rPr>
              <a:t> para </a:t>
            </a:r>
            <a:r>
              <a:rPr lang="en-US" sz="2400" dirty="0" err="1">
                <a:solidFill>
                  <a:srgbClr val="FFFFFF"/>
                </a:solidFill>
              </a:rPr>
              <a:t>dispositivos</a:t>
            </a:r>
            <a:r>
              <a:rPr lang="en-US" sz="2400" dirty="0">
                <a:solidFill>
                  <a:srgbClr val="FFFFFF"/>
                </a:solidFill>
              </a:rPr>
              <a:t> Android.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Não</a:t>
            </a:r>
            <a:r>
              <a:rPr lang="en-US" sz="2400" dirty="0">
                <a:solidFill>
                  <a:srgbClr val="FFFFFF"/>
                </a:solidFill>
              </a:rPr>
              <a:t> é </a:t>
            </a:r>
            <a:r>
              <a:rPr lang="en-US" sz="2400" dirty="0" err="1">
                <a:solidFill>
                  <a:srgbClr val="FFFFFF"/>
                </a:solidFill>
              </a:rPr>
              <a:t>possível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distribuir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aplicativos</a:t>
            </a:r>
            <a:r>
              <a:rPr lang="en-US" sz="2400" dirty="0">
                <a:solidFill>
                  <a:srgbClr val="FFFFFF"/>
                </a:solidFill>
              </a:rPr>
              <a:t> para </a:t>
            </a:r>
            <a:r>
              <a:rPr lang="en-US" sz="2400" dirty="0" err="1">
                <a:solidFill>
                  <a:srgbClr val="FFFFFF"/>
                </a:solidFill>
              </a:rPr>
              <a:t>dispositivos</a:t>
            </a:r>
            <a:r>
              <a:rPr lang="en-US" sz="2400" dirty="0">
                <a:solidFill>
                  <a:srgbClr val="FFFFFF"/>
                </a:solidFill>
              </a:rPr>
              <a:t> iOS com um </a:t>
            </a:r>
            <a:r>
              <a:rPr lang="en-US" sz="2400" dirty="0" err="1">
                <a:solidFill>
                  <a:srgbClr val="FFFFFF"/>
                </a:solidFill>
              </a:rPr>
              <a:t>computador</a:t>
            </a:r>
            <a:r>
              <a:rPr lang="en-US" sz="2400" dirty="0">
                <a:solidFill>
                  <a:srgbClr val="FFFFFF"/>
                </a:solidFill>
              </a:rPr>
              <a:t> Windows </a:t>
            </a:r>
            <a:r>
              <a:rPr lang="en-US" sz="2400" dirty="0" err="1">
                <a:solidFill>
                  <a:srgbClr val="FFFFFF"/>
                </a:solidFill>
              </a:rPr>
              <a:t>porque</a:t>
            </a:r>
            <a:r>
              <a:rPr lang="en-US" sz="2400" dirty="0">
                <a:solidFill>
                  <a:srgbClr val="FFFFFF"/>
                </a:solidFill>
              </a:rPr>
              <a:t> o </a:t>
            </a:r>
            <a:r>
              <a:rPr lang="en-US" sz="2400" dirty="0" err="1">
                <a:solidFill>
                  <a:srgbClr val="FFFFFF"/>
                </a:solidFill>
              </a:rPr>
              <a:t>processo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requer</a:t>
            </a:r>
            <a:r>
              <a:rPr lang="en-US" sz="2400" dirty="0">
                <a:solidFill>
                  <a:srgbClr val="FFFFFF"/>
                </a:solidFill>
              </a:rPr>
              <a:t> um </a:t>
            </a:r>
            <a:r>
              <a:rPr lang="en-US" sz="2400" dirty="0" err="1">
                <a:solidFill>
                  <a:srgbClr val="FFFFFF"/>
                </a:solidFill>
              </a:rPr>
              <a:t>programa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chamado</a:t>
            </a:r>
            <a:r>
              <a:rPr lang="en-US" sz="2400" dirty="0">
                <a:solidFill>
                  <a:srgbClr val="FFFFFF"/>
                </a:solidFill>
              </a:rPr>
              <a:t> Xcode , </a:t>
            </a:r>
            <a:r>
              <a:rPr lang="en-US" sz="2400" dirty="0" err="1">
                <a:solidFill>
                  <a:srgbClr val="FFFFFF"/>
                </a:solidFill>
              </a:rPr>
              <a:t>que</a:t>
            </a:r>
            <a:r>
              <a:rPr lang="en-US" sz="2400" dirty="0">
                <a:solidFill>
                  <a:srgbClr val="FFFFFF"/>
                </a:solidFill>
              </a:rPr>
              <a:t> é </a:t>
            </a:r>
            <a:r>
              <a:rPr lang="en-US" sz="2400" dirty="0" err="1">
                <a:solidFill>
                  <a:srgbClr val="FFFFFF"/>
                </a:solidFill>
              </a:rPr>
              <a:t>compatível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apenas</a:t>
            </a:r>
            <a:r>
              <a:rPr lang="en-US" sz="2400" dirty="0">
                <a:solidFill>
                  <a:srgbClr val="FFFFFF"/>
                </a:solidFill>
              </a:rPr>
              <a:t> com macOS.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DEC194A-A292-C3B8-456F-4EC907A8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1637930"/>
            <a:ext cx="5407002" cy="358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11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620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Inter</vt:lpstr>
      <vt:lpstr>Tema do Office</vt:lpstr>
      <vt:lpstr>Realidade Aumentada</vt:lpstr>
      <vt:lpstr>Kristal Cart</vt:lpstr>
      <vt:lpstr>Knightfall AR</vt:lpstr>
      <vt:lpstr>Angry Birds</vt:lpstr>
      <vt:lpstr>AR Keynote Reel</vt:lpstr>
      <vt:lpstr>Realidade Aumentada</vt:lpstr>
      <vt:lpstr>Filtros faciais de realidade aumentada</vt:lpstr>
      <vt:lpstr>Realidade Aumentada baseada em marcadores</vt:lpstr>
      <vt:lpstr>Realidade Aumentada sem Marcadores</vt:lpstr>
      <vt:lpstr>Realidade Aumentada baseada em localização</vt:lpstr>
      <vt:lpstr>Exercício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9</cp:revision>
  <dcterms:created xsi:type="dcterms:W3CDTF">2025-12-10T16:21:17Z</dcterms:created>
  <dcterms:modified xsi:type="dcterms:W3CDTF">2025-12-10T17:27:53Z</dcterms:modified>
</cp:coreProperties>
</file>