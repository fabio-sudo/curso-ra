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5" r:id="rId1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62"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12/20/2025</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‹nº›</a:t>
            </a:fld>
            <a:endParaRPr lang="en-US"/>
          </a:p>
        </p:txBody>
      </p:sp>
    </p:spTree>
    <p:extLst>
      <p:ext uri="{BB962C8B-B14F-4D97-AF65-F5344CB8AC3E}">
        <p14:creationId xmlns:p14="http://schemas.microsoft.com/office/powerpoint/2010/main" val="2139140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06825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83653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31065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88073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5403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‹nº›</a:t>
            </a:fld>
            <a:endParaRPr lang="en-US"/>
          </a:p>
        </p:txBody>
      </p:sp>
    </p:spTree>
    <p:extLst>
      <p:ext uri="{BB962C8B-B14F-4D97-AF65-F5344CB8AC3E}">
        <p14:creationId xmlns:p14="http://schemas.microsoft.com/office/powerpoint/2010/main" val="50428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8030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9448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‹nº›</a:t>
            </a:fld>
            <a:endParaRPr lang="en-US"/>
          </a:p>
        </p:txBody>
      </p:sp>
    </p:spTree>
    <p:extLst>
      <p:ext uri="{BB962C8B-B14F-4D97-AF65-F5344CB8AC3E}">
        <p14:creationId xmlns:p14="http://schemas.microsoft.com/office/powerpoint/2010/main" val="2586229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12/20/2025</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‹nº›</a:t>
            </a:fld>
            <a:endParaRPr lang="en-US"/>
          </a:p>
        </p:txBody>
      </p:sp>
    </p:spTree>
    <p:extLst>
      <p:ext uri="{BB962C8B-B14F-4D97-AF65-F5344CB8AC3E}">
        <p14:creationId xmlns:p14="http://schemas.microsoft.com/office/powerpoint/2010/main" val="377436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12/20/2025</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‹nº›</a:t>
            </a:fld>
            <a:endParaRPr lang="en-US" dirty="0"/>
          </a:p>
        </p:txBody>
      </p:sp>
    </p:spTree>
    <p:extLst>
      <p:ext uri="{BB962C8B-B14F-4D97-AF65-F5344CB8AC3E}">
        <p14:creationId xmlns:p14="http://schemas.microsoft.com/office/powerpoint/2010/main" val="358705953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A5B9DB-0BF9-4260-A97B-936524F96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6481A20-872D-1226-97B2-2161E3D027FA}"/>
              </a:ext>
            </a:extLst>
          </p:cNvPr>
          <p:cNvPicPr>
            <a:picLocks noChangeAspect="1"/>
          </p:cNvPicPr>
          <p:nvPr/>
        </p:nvPicPr>
        <p:blipFill>
          <a:blip r:embed="rId2">
            <a:alphaModFix amt="50000"/>
          </a:blip>
          <a:srcRect b="6250"/>
          <a:stretch>
            <a:fillRect/>
          </a:stretch>
        </p:blipFill>
        <p:spPr>
          <a:xfrm>
            <a:off x="20" y="10"/>
            <a:ext cx="12191979" cy="6857990"/>
          </a:xfrm>
          <a:prstGeom prst="rect">
            <a:avLst/>
          </a:prstGeom>
        </p:spPr>
      </p:pic>
      <p:sp>
        <p:nvSpPr>
          <p:cNvPr id="11" name="Freeform: Shape 10">
            <a:extLst>
              <a:ext uri="{FF2B5EF4-FFF2-40B4-BE49-F238E27FC236}">
                <a16:creationId xmlns:a16="http://schemas.microsoft.com/office/drawing/2014/main" id="{59824785-89B4-4433-955A-F2C847B15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859" y="614291"/>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rgbClr val="57D943"/>
          </a:solidFill>
          <a:ln w="9525" cap="flat">
            <a:noFill/>
            <a:prstDash val="solid"/>
            <a:miter/>
          </a:ln>
        </p:spPr>
        <p:txBody>
          <a:bodyPr rtlCol="0" anchor="ctr"/>
          <a:lstStyle/>
          <a:p>
            <a:endParaRPr lang="en-US"/>
          </a:p>
        </p:txBody>
      </p:sp>
      <p:sp>
        <p:nvSpPr>
          <p:cNvPr id="2" name="Título 1">
            <a:extLst>
              <a:ext uri="{FF2B5EF4-FFF2-40B4-BE49-F238E27FC236}">
                <a16:creationId xmlns:a16="http://schemas.microsoft.com/office/drawing/2014/main" id="{91C68F42-5978-9868-B4CC-3FB2BC7E1624}"/>
              </a:ext>
            </a:extLst>
          </p:cNvPr>
          <p:cNvSpPr>
            <a:spLocks noGrp="1"/>
          </p:cNvSpPr>
          <p:nvPr>
            <p:ph type="ctrTitle"/>
          </p:nvPr>
        </p:nvSpPr>
        <p:spPr>
          <a:xfrm>
            <a:off x="2066925" y="1731762"/>
            <a:ext cx="8058150" cy="2453841"/>
          </a:xfrm>
        </p:spPr>
        <p:txBody>
          <a:bodyPr>
            <a:normAutofit/>
          </a:bodyPr>
          <a:lstStyle/>
          <a:p>
            <a:pPr algn="ctr"/>
            <a:r>
              <a:rPr lang="pt-BR" sz="8100" dirty="0"/>
              <a:t>Detecção Facial</a:t>
            </a:r>
          </a:p>
        </p:txBody>
      </p:sp>
      <p:sp>
        <p:nvSpPr>
          <p:cNvPr id="3" name="Subtítulo 2">
            <a:extLst>
              <a:ext uri="{FF2B5EF4-FFF2-40B4-BE49-F238E27FC236}">
                <a16:creationId xmlns:a16="http://schemas.microsoft.com/office/drawing/2014/main" id="{1618A87E-2E6B-AD77-0DF1-E3240836EA33}"/>
              </a:ext>
            </a:extLst>
          </p:cNvPr>
          <p:cNvSpPr>
            <a:spLocks noGrp="1"/>
          </p:cNvSpPr>
          <p:nvPr>
            <p:ph type="subTitle" idx="1"/>
          </p:nvPr>
        </p:nvSpPr>
        <p:spPr>
          <a:xfrm>
            <a:off x="3228975" y="4599432"/>
            <a:ext cx="5734051" cy="934593"/>
          </a:xfrm>
        </p:spPr>
        <p:txBody>
          <a:bodyPr>
            <a:normAutofit/>
          </a:bodyPr>
          <a:lstStyle/>
          <a:p>
            <a:pPr algn="ctr"/>
            <a:r>
              <a:rPr lang="pt-BR" sz="3200"/>
              <a:t>Unity RA</a:t>
            </a:r>
          </a:p>
        </p:txBody>
      </p:sp>
      <p:sp>
        <p:nvSpPr>
          <p:cNvPr id="13" name="Rectangle 6">
            <a:extLst>
              <a:ext uri="{FF2B5EF4-FFF2-40B4-BE49-F238E27FC236}">
                <a16:creationId xmlns:a16="http://schemas.microsoft.com/office/drawing/2014/main" id="{CB2E64D6-3AEB-4AFF-9475-E210F85E0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6742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56EF4C-9665-150D-F60B-81472632C253}"/>
              </a:ext>
            </a:extLst>
          </p:cNvPr>
          <p:cNvSpPr>
            <a:spLocks noGrp="1"/>
          </p:cNvSpPr>
          <p:nvPr>
            <p:ph type="title"/>
          </p:nvPr>
        </p:nvSpPr>
        <p:spPr/>
        <p:txBody>
          <a:bodyPr/>
          <a:lstStyle/>
          <a:p>
            <a:r>
              <a:rPr lang="pt-BR" dirty="0"/>
              <a:t>UI</a:t>
            </a:r>
          </a:p>
        </p:txBody>
      </p:sp>
      <p:sp>
        <p:nvSpPr>
          <p:cNvPr id="3" name="Espaço Reservado para Conteúdo 2">
            <a:extLst>
              <a:ext uri="{FF2B5EF4-FFF2-40B4-BE49-F238E27FC236}">
                <a16:creationId xmlns:a16="http://schemas.microsoft.com/office/drawing/2014/main" id="{57AFB97D-DC5C-9A70-2A1D-E22564C4DC4F}"/>
              </a:ext>
            </a:extLst>
          </p:cNvPr>
          <p:cNvSpPr>
            <a:spLocks noGrp="1"/>
          </p:cNvSpPr>
          <p:nvPr>
            <p:ph idx="1"/>
          </p:nvPr>
        </p:nvSpPr>
        <p:spPr/>
        <p:txBody>
          <a:bodyPr/>
          <a:lstStyle/>
          <a:p>
            <a:r>
              <a:rPr lang="pt-BR" b="0" i="0" dirty="0">
                <a:solidFill>
                  <a:srgbClr val="000000"/>
                </a:solidFill>
                <a:effectLst/>
                <a:latin typeface="Inter"/>
              </a:rPr>
              <a:t>Este projeto utiliza um sistema de interface de usuário chamado </a:t>
            </a:r>
            <a:r>
              <a:rPr lang="pt-BR" b="1" i="0" dirty="0">
                <a:solidFill>
                  <a:srgbClr val="000000"/>
                </a:solidFill>
                <a:effectLst/>
                <a:latin typeface="Inter"/>
              </a:rPr>
              <a:t>Unity UI</a:t>
            </a:r>
            <a:r>
              <a:rPr lang="pt-BR" b="0" i="0" dirty="0">
                <a:solidFill>
                  <a:srgbClr val="000000"/>
                </a:solidFill>
                <a:effectLst/>
                <a:latin typeface="Inter"/>
              </a:rPr>
              <a:t> (ou </a:t>
            </a:r>
            <a:r>
              <a:rPr lang="pt-BR" b="1" i="0" dirty="0" err="1">
                <a:solidFill>
                  <a:srgbClr val="000000"/>
                </a:solidFill>
                <a:effectLst/>
                <a:latin typeface="Inter"/>
              </a:rPr>
              <a:t>uGUI</a:t>
            </a:r>
            <a:r>
              <a:rPr lang="pt-BR" b="0" i="0" dirty="0">
                <a:solidFill>
                  <a:srgbClr val="000000"/>
                </a:solidFill>
                <a:effectLst/>
                <a:latin typeface="Inter"/>
              </a:rPr>
              <a:t> ). Este sistema organiza as interfaces de usuário usando um componente Canvas — você precisa criar cada parte da interface de usuário como filha de um </a:t>
            </a:r>
            <a:r>
              <a:rPr lang="pt-BR" b="0" i="0" dirty="0" err="1">
                <a:solidFill>
                  <a:srgbClr val="000000"/>
                </a:solidFill>
                <a:effectLst/>
                <a:latin typeface="Inter"/>
              </a:rPr>
              <a:t>GameObject</a:t>
            </a:r>
            <a:r>
              <a:rPr lang="pt-BR" b="0" i="0" dirty="0">
                <a:solidFill>
                  <a:srgbClr val="000000"/>
                </a:solidFill>
                <a:effectLst/>
                <a:latin typeface="Inter"/>
              </a:rPr>
              <a:t> com este componente Canvas adicionado a ele. Já fizemos isso para o seu aplicativo, mas você precisará configurá-lo para atender às suas necessidades específicas.</a:t>
            </a:r>
            <a:endParaRPr lang="pt-BR" dirty="0"/>
          </a:p>
        </p:txBody>
      </p:sp>
    </p:spTree>
    <p:extLst>
      <p:ext uri="{BB962C8B-B14F-4D97-AF65-F5344CB8AC3E}">
        <p14:creationId xmlns:p14="http://schemas.microsoft.com/office/powerpoint/2010/main" val="286819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2EB187-6155-50A0-1A54-5F430C13D052}"/>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8CB37A38-BBB8-D0C3-C2EB-FF3774962DE6}"/>
              </a:ext>
            </a:extLst>
          </p:cNvPr>
          <p:cNvSpPr>
            <a:spLocks noGrp="1"/>
          </p:cNvSpPr>
          <p:nvPr>
            <p:ph sz="half" idx="1"/>
          </p:nvPr>
        </p:nvSpPr>
        <p:spPr/>
        <p:txBody>
          <a:bodyPr/>
          <a:lstStyle/>
          <a:p>
            <a:r>
              <a:rPr lang="pt-BR" b="1" dirty="0"/>
              <a:t>1. </a:t>
            </a:r>
            <a:r>
              <a:rPr lang="pt-BR" dirty="0"/>
              <a:t>Na janela </a:t>
            </a:r>
            <a:r>
              <a:rPr lang="pt-BR" b="1" dirty="0"/>
              <a:t>Projeto</a:t>
            </a:r>
            <a:r>
              <a:rPr lang="pt-BR" dirty="0"/>
              <a:t> , acesse </a:t>
            </a:r>
            <a:r>
              <a:rPr lang="pt-BR" b="1" dirty="0" err="1"/>
              <a:t>Assets</a:t>
            </a:r>
            <a:r>
              <a:rPr lang="pt-BR" dirty="0"/>
              <a:t> &gt; </a:t>
            </a:r>
            <a:r>
              <a:rPr lang="pt-BR" b="1" dirty="0"/>
              <a:t>_</a:t>
            </a:r>
            <a:r>
              <a:rPr lang="pt-BR" b="1" dirty="0" err="1"/>
              <a:t>InteractiveFaceFilter</a:t>
            </a:r>
            <a:r>
              <a:rPr lang="pt-BR" dirty="0"/>
              <a:t> &gt; </a:t>
            </a:r>
            <a:r>
              <a:rPr lang="pt-BR" b="1" dirty="0" err="1"/>
              <a:t>Prefabs</a:t>
            </a:r>
            <a:r>
              <a:rPr lang="pt-BR" dirty="0"/>
              <a:t> .</a:t>
            </a:r>
          </a:p>
          <a:p>
            <a:r>
              <a:rPr lang="pt-BR" b="1" dirty="0"/>
              <a:t>2. </a:t>
            </a:r>
            <a:r>
              <a:rPr lang="pt-BR" dirty="0"/>
              <a:t>Arraste o </a:t>
            </a:r>
            <a:r>
              <a:rPr lang="pt-BR" dirty="0" err="1"/>
              <a:t>prefab</a:t>
            </a:r>
            <a:r>
              <a:rPr lang="pt-BR" dirty="0"/>
              <a:t> </a:t>
            </a:r>
            <a:r>
              <a:rPr lang="pt-BR" b="1" dirty="0" err="1"/>
              <a:t>AR_Canvas</a:t>
            </a:r>
            <a:r>
              <a:rPr lang="pt-BR" dirty="0"/>
              <a:t> da janela </a:t>
            </a:r>
            <a:r>
              <a:rPr lang="pt-BR" b="1" dirty="0"/>
              <a:t>Projeto</a:t>
            </a:r>
            <a:r>
              <a:rPr lang="pt-BR" dirty="0"/>
              <a:t> para a janela </a:t>
            </a:r>
            <a:r>
              <a:rPr lang="pt-BR" b="1" dirty="0"/>
              <a:t>Hierarquia</a:t>
            </a:r>
            <a:r>
              <a:rPr lang="pt-BR" dirty="0"/>
              <a:t> .</a:t>
            </a:r>
          </a:p>
          <a:p>
            <a:endParaRPr lang="pt-BR" dirty="0"/>
          </a:p>
        </p:txBody>
      </p:sp>
      <p:sp>
        <p:nvSpPr>
          <p:cNvPr id="4" name="Espaço Reservado para Conteúdo 3">
            <a:extLst>
              <a:ext uri="{FF2B5EF4-FFF2-40B4-BE49-F238E27FC236}">
                <a16:creationId xmlns:a16="http://schemas.microsoft.com/office/drawing/2014/main" id="{B1C0498E-0019-72CF-004C-34CA167E73F4}"/>
              </a:ext>
            </a:extLst>
          </p:cNvPr>
          <p:cNvSpPr>
            <a:spLocks noGrp="1"/>
          </p:cNvSpPr>
          <p:nvPr>
            <p:ph sz="half" idx="2"/>
          </p:nvPr>
        </p:nvSpPr>
        <p:spPr/>
        <p:txBody>
          <a:bodyPr/>
          <a:lstStyle/>
          <a:p>
            <a:r>
              <a:rPr lang="pt-BR" b="1" dirty="0"/>
              <a:t>3. </a:t>
            </a:r>
            <a:r>
              <a:rPr lang="pt-BR" dirty="0"/>
              <a:t>Para visualizar as alterações sem precisar executar o aplicativo, abra a visualização </a:t>
            </a:r>
            <a:r>
              <a:rPr lang="pt-BR" b="1" dirty="0"/>
              <a:t>de Jogo</a:t>
            </a:r>
            <a:r>
              <a:rPr lang="pt-BR" dirty="0"/>
              <a:t> .</a:t>
            </a:r>
          </a:p>
          <a:p>
            <a:r>
              <a:rPr lang="pt-BR" b="1" dirty="0"/>
              <a:t>4. </a:t>
            </a:r>
            <a:r>
              <a:rPr lang="pt-BR" dirty="0"/>
              <a:t>Na janela </a:t>
            </a:r>
            <a:r>
              <a:rPr lang="pt-BR" b="1" dirty="0" err="1"/>
              <a:t>Hierarchy</a:t>
            </a:r>
            <a:r>
              <a:rPr lang="pt-BR" dirty="0"/>
              <a:t> , selecione o </a:t>
            </a:r>
            <a:r>
              <a:rPr lang="pt-BR" dirty="0" err="1"/>
              <a:t>GameObject</a:t>
            </a:r>
            <a:r>
              <a:rPr lang="pt-BR" dirty="0"/>
              <a:t> </a:t>
            </a:r>
            <a:r>
              <a:rPr lang="pt-BR" b="1" dirty="0" err="1"/>
              <a:t>GlassesGroup</a:t>
            </a:r>
            <a:r>
              <a:rPr lang="pt-BR" dirty="0"/>
              <a:t> e, em seguida, habilite o </a:t>
            </a:r>
            <a:r>
              <a:rPr lang="pt-BR" dirty="0" err="1"/>
              <a:t>GameObject</a:t>
            </a:r>
            <a:r>
              <a:rPr lang="pt-BR" dirty="0"/>
              <a:t> na janela </a:t>
            </a:r>
            <a:r>
              <a:rPr lang="pt-BR" b="1" dirty="0"/>
              <a:t>Inspector</a:t>
            </a:r>
            <a:r>
              <a:rPr lang="pt-BR" dirty="0"/>
              <a:t> .</a:t>
            </a:r>
          </a:p>
          <a:p>
            <a:r>
              <a:rPr lang="pt-BR" dirty="0"/>
              <a:t>Os modelos de óculos devem aparecer na visualização </a:t>
            </a:r>
            <a:r>
              <a:rPr lang="pt-BR" b="1" dirty="0"/>
              <a:t>do jogo .</a:t>
            </a:r>
            <a:endParaRPr lang="pt-BR" dirty="0"/>
          </a:p>
          <a:p>
            <a:endParaRPr lang="pt-BR" dirty="0"/>
          </a:p>
        </p:txBody>
      </p:sp>
    </p:spTree>
    <p:extLst>
      <p:ext uri="{BB962C8B-B14F-4D97-AF65-F5344CB8AC3E}">
        <p14:creationId xmlns:p14="http://schemas.microsoft.com/office/powerpoint/2010/main" val="3703688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Tela de computador com texto preto sobre fundo branco">
            <a:extLst>
              <a:ext uri="{FF2B5EF4-FFF2-40B4-BE49-F238E27FC236}">
                <a16:creationId xmlns:a16="http://schemas.microsoft.com/office/drawing/2014/main" id="{591F6D1C-F734-0126-9FD7-26448F300B23}"/>
              </a:ext>
            </a:extLst>
          </p:cNvPr>
          <p:cNvPicPr>
            <a:picLocks noChangeAspect="1"/>
          </p:cNvPicPr>
          <p:nvPr/>
        </p:nvPicPr>
        <p:blipFill>
          <a:blip r:embed="rId2"/>
          <a:stretch>
            <a:fillRect/>
          </a:stretch>
        </p:blipFill>
        <p:spPr>
          <a:xfrm>
            <a:off x="0" y="1"/>
            <a:ext cx="12192000" cy="6858000"/>
          </a:xfrm>
          <a:prstGeom prst="rect">
            <a:avLst/>
          </a:prstGeom>
        </p:spPr>
      </p:pic>
      <p:cxnSp>
        <p:nvCxnSpPr>
          <p:cNvPr id="5" name="Conector de Seta Reta 4">
            <a:extLst>
              <a:ext uri="{FF2B5EF4-FFF2-40B4-BE49-F238E27FC236}">
                <a16:creationId xmlns:a16="http://schemas.microsoft.com/office/drawing/2014/main" id="{479195C3-FB4C-1805-B12D-010979D60056}"/>
              </a:ext>
            </a:extLst>
          </p:cNvPr>
          <p:cNvCxnSpPr/>
          <p:nvPr/>
        </p:nvCxnSpPr>
        <p:spPr>
          <a:xfrm flipH="1" flipV="1">
            <a:off x="1081548" y="3146323"/>
            <a:ext cx="1081549" cy="2143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8498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8E8BF-A888-D86F-0AE2-595CFB153961}"/>
              </a:ext>
            </a:extLst>
          </p:cNvPr>
          <p:cNvSpPr>
            <a:spLocks noGrp="1"/>
          </p:cNvSpPr>
          <p:nvPr>
            <p:ph type="title"/>
          </p:nvPr>
        </p:nvSpPr>
        <p:spPr/>
        <p:txBody>
          <a:bodyPr/>
          <a:lstStyle/>
          <a:p>
            <a:r>
              <a:rPr lang="pt-BR" dirty="0"/>
              <a:t>Ícones para botões UI</a:t>
            </a:r>
          </a:p>
        </p:txBody>
      </p:sp>
      <p:sp>
        <p:nvSpPr>
          <p:cNvPr id="3" name="Espaço Reservado para Conteúdo 2">
            <a:extLst>
              <a:ext uri="{FF2B5EF4-FFF2-40B4-BE49-F238E27FC236}">
                <a16:creationId xmlns:a16="http://schemas.microsoft.com/office/drawing/2014/main" id="{F6CB4F63-CEA4-A4BD-8C38-16B981CB1CA4}"/>
              </a:ext>
            </a:extLst>
          </p:cNvPr>
          <p:cNvSpPr>
            <a:spLocks noGrp="1"/>
          </p:cNvSpPr>
          <p:nvPr>
            <p:ph idx="1"/>
          </p:nvPr>
        </p:nvSpPr>
        <p:spPr/>
        <p:txBody>
          <a:bodyPr>
            <a:normAutofit lnSpcReduction="10000"/>
          </a:bodyPr>
          <a:lstStyle/>
          <a:p>
            <a:r>
              <a:rPr lang="pt-BR" dirty="0"/>
              <a:t>Atualmente, os botões dos óculos são apenas círculos vazios, mas no aplicativo final os usuários deverão ser capazes de identificar qual botão representa qual par de óculos. Para isso, você aplicará ícones predefinidos que representam cada par de óculos.</a:t>
            </a:r>
          </a:p>
          <a:p>
            <a:endParaRPr lang="pt-BR" dirty="0"/>
          </a:p>
          <a:p>
            <a:r>
              <a:rPr lang="pt-BR" dirty="0"/>
              <a:t>Os ícones dos óculos foram criados em um software externo e agrupados em uma folha de sprites. Uma folha de sprites é um atlas (imagem contendo uma coleção de imagens menores) que pode ser recortada (separada) e usada individualmente no Unity Editor. O uso de uma folha de sprites ajuda a otimizar o aplicativo: renderizar um único arquivo de imagem é mais eficiente do que renderizar vários arquivos individuais. As folhas de sprites também são úteis para fins de organização — você pode encontrar todos os ícones dos óculos na mesma folha de sprites.</a:t>
            </a:r>
          </a:p>
        </p:txBody>
      </p:sp>
    </p:spTree>
    <p:extLst>
      <p:ext uri="{BB962C8B-B14F-4D97-AF65-F5344CB8AC3E}">
        <p14:creationId xmlns:p14="http://schemas.microsoft.com/office/powerpoint/2010/main" val="3467771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1ED034-55FA-D0D6-82A5-067B2F5E5C41}"/>
              </a:ext>
            </a:extLst>
          </p:cNvPr>
          <p:cNvSpPr>
            <a:spLocks noGrp="1"/>
          </p:cNvSpPr>
          <p:nvPr>
            <p:ph type="title"/>
          </p:nvPr>
        </p:nvSpPr>
        <p:spPr/>
        <p:txBody>
          <a:bodyPr/>
          <a:lstStyle/>
          <a:p>
            <a:r>
              <a:rPr lang="pt-BR" dirty="0"/>
              <a:t>UI</a:t>
            </a:r>
          </a:p>
        </p:txBody>
      </p:sp>
      <p:sp>
        <p:nvSpPr>
          <p:cNvPr id="3" name="Espaço Reservado para Conteúdo 2">
            <a:extLst>
              <a:ext uri="{FF2B5EF4-FFF2-40B4-BE49-F238E27FC236}">
                <a16:creationId xmlns:a16="http://schemas.microsoft.com/office/drawing/2014/main" id="{10A7C914-AE7F-BB97-EA48-F9AFF40D755F}"/>
              </a:ext>
            </a:extLst>
          </p:cNvPr>
          <p:cNvSpPr>
            <a:spLocks noGrp="1"/>
          </p:cNvSpPr>
          <p:nvPr>
            <p:ph idx="1"/>
          </p:nvPr>
        </p:nvSpPr>
        <p:spPr>
          <a:xfrm>
            <a:off x="838200" y="1929384"/>
            <a:ext cx="10515600" cy="3488190"/>
          </a:xfrm>
        </p:spPr>
        <p:txBody>
          <a:bodyPr>
            <a:normAutofit fontScale="92500"/>
          </a:bodyPr>
          <a:lstStyle/>
          <a:p>
            <a:pPr marL="0" indent="0">
              <a:buNone/>
            </a:pPr>
            <a:r>
              <a:rPr lang="pt-BR" dirty="0"/>
              <a:t>1. Na janela Projeto , navegue até </a:t>
            </a:r>
            <a:r>
              <a:rPr lang="pt-BR" dirty="0" err="1"/>
              <a:t>Assets</a:t>
            </a:r>
            <a:r>
              <a:rPr lang="pt-BR" dirty="0"/>
              <a:t> &gt; _</a:t>
            </a:r>
            <a:r>
              <a:rPr lang="pt-BR" dirty="0" err="1"/>
              <a:t>InteractiveFaceFilter</a:t>
            </a:r>
            <a:r>
              <a:rPr lang="pt-BR" dirty="0"/>
              <a:t> &gt; Sprites .</a:t>
            </a:r>
          </a:p>
          <a:p>
            <a:pPr marL="0" indent="0">
              <a:buNone/>
            </a:pPr>
            <a:r>
              <a:rPr lang="pt-BR" dirty="0"/>
              <a:t>2. Localize a folha de sprites </a:t>
            </a:r>
            <a:r>
              <a:rPr lang="pt-BR" dirty="0" err="1"/>
              <a:t>UI_Icon_Glasses</a:t>
            </a:r>
            <a:r>
              <a:rPr lang="pt-BR" dirty="0"/>
              <a:t> e selecione a seta no lado direito da miniatura para revelar os sprites individuais.</a:t>
            </a:r>
          </a:p>
          <a:p>
            <a:pPr marL="0" indent="0">
              <a:buNone/>
            </a:pPr>
            <a:r>
              <a:rPr lang="pt-BR" dirty="0"/>
              <a:t>3. Na janela </a:t>
            </a:r>
            <a:r>
              <a:rPr lang="pt-BR" dirty="0" err="1"/>
              <a:t>Hierarchy</a:t>
            </a:r>
            <a:r>
              <a:rPr lang="pt-BR" dirty="0"/>
              <a:t> , expanda o </a:t>
            </a:r>
            <a:r>
              <a:rPr lang="pt-BR" dirty="0" err="1"/>
              <a:t>GameObject</a:t>
            </a:r>
            <a:r>
              <a:rPr lang="pt-BR" dirty="0"/>
              <a:t> </a:t>
            </a:r>
            <a:r>
              <a:rPr lang="pt-BR" dirty="0" err="1"/>
              <a:t>Glasses</a:t>
            </a:r>
            <a:r>
              <a:rPr lang="pt-BR" dirty="0"/>
              <a:t> </a:t>
            </a:r>
            <a:r>
              <a:rPr lang="pt-BR" dirty="0" err="1"/>
              <a:t>Buttons</a:t>
            </a:r>
            <a:r>
              <a:rPr lang="pt-BR" dirty="0"/>
              <a:t> usando o ícone de expansão para revelar seus </a:t>
            </a:r>
            <a:r>
              <a:rPr lang="pt-BR" dirty="0" err="1"/>
              <a:t>GameObjects</a:t>
            </a:r>
            <a:r>
              <a:rPr lang="pt-BR" dirty="0"/>
              <a:t> filhos.</a:t>
            </a:r>
          </a:p>
          <a:p>
            <a:pPr marL="0" indent="0">
              <a:buNone/>
            </a:pPr>
            <a:r>
              <a:rPr lang="pt-BR" dirty="0"/>
              <a:t>4. Selecione o </a:t>
            </a:r>
            <a:r>
              <a:rPr lang="pt-BR" dirty="0" err="1"/>
              <a:t>GameObject</a:t>
            </a:r>
            <a:r>
              <a:rPr lang="pt-BR" dirty="0"/>
              <a:t> " Óculos 1 Botão" .</a:t>
            </a:r>
          </a:p>
          <a:p>
            <a:pPr marL="0" indent="0">
              <a:buNone/>
            </a:pPr>
            <a:r>
              <a:rPr lang="pt-BR" dirty="0"/>
              <a:t>5. Escolha qual dos três óculos selecionados para o aplicativo será representado pelo primeiro botão na interface do usuário.</a:t>
            </a:r>
          </a:p>
          <a:p>
            <a:pPr marL="0" indent="0">
              <a:buNone/>
            </a:pPr>
            <a:r>
              <a:rPr lang="pt-BR" dirty="0"/>
              <a:t>6. Arraste o ícone de óculos selecionado da janela Projeto para a janela Inspetor e atribua-o à propriedade Imagem de Origem .</a:t>
            </a:r>
          </a:p>
        </p:txBody>
      </p:sp>
      <p:pic>
        <p:nvPicPr>
          <p:cNvPr id="1026" name="Picture 2">
            <a:extLst>
              <a:ext uri="{FF2B5EF4-FFF2-40B4-BE49-F238E27FC236}">
                <a16:creationId xmlns:a16="http://schemas.microsoft.com/office/drawing/2014/main" id="{119E1CA1-1599-C354-96C3-A2A1C744F2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680075"/>
            <a:ext cx="12192000" cy="117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6226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12477B-67BD-4F0B-ACAE-1C5BF920FF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descr="Tela de celular&#10;&#10;O conteúdo gerado por IA pode estar incorreto.">
            <a:extLst>
              <a:ext uri="{FF2B5EF4-FFF2-40B4-BE49-F238E27FC236}">
                <a16:creationId xmlns:a16="http://schemas.microsoft.com/office/drawing/2014/main" id="{1AEF0E12-A4E7-B9CE-B0C6-8D3416C5C8A5}"/>
              </a:ext>
            </a:extLst>
          </p:cNvPr>
          <p:cNvPicPr>
            <a:picLocks noChangeAspect="1"/>
          </p:cNvPicPr>
          <p:nvPr/>
        </p:nvPicPr>
        <p:blipFill>
          <a:blip r:embed="rId2"/>
          <a:stretch>
            <a:fillRect/>
          </a:stretch>
        </p:blipFill>
        <p:spPr>
          <a:xfrm>
            <a:off x="0" y="0"/>
            <a:ext cx="12192000" cy="6858000"/>
          </a:xfrm>
          <a:prstGeom prst="rect">
            <a:avLst/>
          </a:prstGeom>
        </p:spPr>
      </p:pic>
      <p:sp>
        <p:nvSpPr>
          <p:cNvPr id="9" name="Quadro 8">
            <a:extLst>
              <a:ext uri="{FF2B5EF4-FFF2-40B4-BE49-F238E27FC236}">
                <a16:creationId xmlns:a16="http://schemas.microsoft.com/office/drawing/2014/main" id="{C30B9216-10EB-EA89-2D37-0FFC158366B9}"/>
              </a:ext>
            </a:extLst>
          </p:cNvPr>
          <p:cNvSpPr/>
          <p:nvPr/>
        </p:nvSpPr>
        <p:spPr>
          <a:xfrm>
            <a:off x="9217572" y="2175641"/>
            <a:ext cx="2974428" cy="1082566"/>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0" name="Quadro 9">
            <a:extLst>
              <a:ext uri="{FF2B5EF4-FFF2-40B4-BE49-F238E27FC236}">
                <a16:creationId xmlns:a16="http://schemas.microsoft.com/office/drawing/2014/main" id="{50F8DCA2-294D-49B5-1363-3EA0FE3A506B}"/>
              </a:ext>
            </a:extLst>
          </p:cNvPr>
          <p:cNvSpPr/>
          <p:nvPr/>
        </p:nvSpPr>
        <p:spPr>
          <a:xfrm>
            <a:off x="70944" y="2328041"/>
            <a:ext cx="2974428" cy="1368888"/>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2524387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Tela de celular com aplicativo aberto&#10;&#10;O conteúdo gerado por IA pode estar incorreto.">
            <a:extLst>
              <a:ext uri="{FF2B5EF4-FFF2-40B4-BE49-F238E27FC236}">
                <a16:creationId xmlns:a16="http://schemas.microsoft.com/office/drawing/2014/main" id="{883D972D-C3FF-A0D5-D9A1-8AA653D82BCC}"/>
              </a:ext>
            </a:extLst>
          </p:cNvPr>
          <p:cNvPicPr>
            <a:picLocks noChangeAspect="1"/>
          </p:cNvPicPr>
          <p:nvPr/>
        </p:nvPicPr>
        <p:blipFill>
          <a:blip r:embed="rId2"/>
          <a:stretch>
            <a:fillRect/>
          </a:stretch>
        </p:blipFill>
        <p:spPr>
          <a:xfrm>
            <a:off x="0" y="0"/>
            <a:ext cx="12192000" cy="6858000"/>
          </a:xfrm>
          <a:prstGeom prst="rect">
            <a:avLst/>
          </a:prstGeom>
        </p:spPr>
      </p:pic>
      <p:sp>
        <p:nvSpPr>
          <p:cNvPr id="4" name="Quadro 3">
            <a:extLst>
              <a:ext uri="{FF2B5EF4-FFF2-40B4-BE49-F238E27FC236}">
                <a16:creationId xmlns:a16="http://schemas.microsoft.com/office/drawing/2014/main" id="{71B85FB2-49F5-8932-EA60-6C1DFB75A49A}"/>
              </a:ext>
            </a:extLst>
          </p:cNvPr>
          <p:cNvSpPr/>
          <p:nvPr/>
        </p:nvSpPr>
        <p:spPr>
          <a:xfrm>
            <a:off x="136634" y="2974428"/>
            <a:ext cx="1849821" cy="1061544"/>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 name="Quadro 4">
            <a:extLst>
              <a:ext uri="{FF2B5EF4-FFF2-40B4-BE49-F238E27FC236}">
                <a16:creationId xmlns:a16="http://schemas.microsoft.com/office/drawing/2014/main" id="{7DB4F4EE-0F27-2244-FD25-2AEE291BA8B7}"/>
              </a:ext>
            </a:extLst>
          </p:cNvPr>
          <p:cNvSpPr/>
          <p:nvPr/>
        </p:nvSpPr>
        <p:spPr>
          <a:xfrm>
            <a:off x="10107561" y="1912884"/>
            <a:ext cx="2084439" cy="1061544"/>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95445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B768BC45-6978-4563-AFFC-4378E82C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lored rectangle">
            <a:extLst>
              <a:ext uri="{FF2B5EF4-FFF2-40B4-BE49-F238E27FC236}">
                <a16:creationId xmlns:a16="http://schemas.microsoft.com/office/drawing/2014/main" id="{A80A8067-64B4-47DF-9C4D-88D9ADEC2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1161924-6A01-E97E-4CD5-C9C248F2D33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9600" dirty="0">
                <a:solidFill>
                  <a:schemeClr val="bg1"/>
                </a:solidFill>
              </a:rPr>
              <a:t>SCRIPT</a:t>
            </a:r>
          </a:p>
        </p:txBody>
      </p:sp>
      <p:sp>
        <p:nvSpPr>
          <p:cNvPr id="3" name="Espaço Reservado para Texto 2">
            <a:extLst>
              <a:ext uri="{FF2B5EF4-FFF2-40B4-BE49-F238E27FC236}">
                <a16:creationId xmlns:a16="http://schemas.microsoft.com/office/drawing/2014/main" id="{0E2A130B-5E4A-0632-FD42-ADAE05DEF07B}"/>
              </a:ext>
            </a:extLst>
          </p:cNvPr>
          <p:cNvSpPr>
            <a:spLocks noGrp="1"/>
          </p:cNvSpPr>
          <p:nvPr>
            <p:ph type="body" idx="1"/>
          </p:nvPr>
        </p:nvSpPr>
        <p:spPr>
          <a:xfrm>
            <a:off x="838199" y="4983276"/>
            <a:ext cx="10512552" cy="1124712"/>
          </a:xfrm>
        </p:spPr>
        <p:txBody>
          <a:bodyPr vert="horz" lIns="91440" tIns="45720" rIns="91440" bIns="45720" rtlCol="0">
            <a:normAutofit/>
          </a:bodyPr>
          <a:lstStyle/>
          <a:p>
            <a:endParaRPr lang="en-US">
              <a:solidFill>
                <a:schemeClr val="bg1"/>
              </a:solidFill>
            </a:endParaRPr>
          </a:p>
        </p:txBody>
      </p:sp>
      <p:sp>
        <p:nvSpPr>
          <p:cNvPr id="14" name="Rectangle 6">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6051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Interface gráfica do usuário, Aplicativo&#10;&#10;O conteúdo gerado por IA pode estar incorreto.">
            <a:extLst>
              <a:ext uri="{FF2B5EF4-FFF2-40B4-BE49-F238E27FC236}">
                <a16:creationId xmlns:a16="http://schemas.microsoft.com/office/drawing/2014/main" id="{0C5D0E98-9D96-6D3D-8052-4441C2AE9404}"/>
              </a:ext>
            </a:extLst>
          </p:cNvPr>
          <p:cNvPicPr>
            <a:picLocks noChangeAspect="1"/>
          </p:cNvPicPr>
          <p:nvPr/>
        </p:nvPicPr>
        <p:blipFill>
          <a:blip r:embed="rId2"/>
          <a:stretch>
            <a:fillRect/>
          </a:stretch>
        </p:blipFill>
        <p:spPr>
          <a:xfrm>
            <a:off x="0" y="0"/>
            <a:ext cx="12192000" cy="6858000"/>
          </a:xfrm>
          <a:prstGeom prst="rect">
            <a:avLst/>
          </a:prstGeom>
        </p:spPr>
      </p:pic>
      <p:sp>
        <p:nvSpPr>
          <p:cNvPr id="4" name="Seta: para a Direita 3">
            <a:extLst>
              <a:ext uri="{FF2B5EF4-FFF2-40B4-BE49-F238E27FC236}">
                <a16:creationId xmlns:a16="http://schemas.microsoft.com/office/drawing/2014/main" id="{8EE97DBF-2B0F-238B-FABA-D25A44D38A6E}"/>
              </a:ext>
            </a:extLst>
          </p:cNvPr>
          <p:cNvSpPr/>
          <p:nvPr/>
        </p:nvSpPr>
        <p:spPr>
          <a:xfrm>
            <a:off x="7246374" y="1103586"/>
            <a:ext cx="1771502" cy="6201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Remova</a:t>
            </a:r>
          </a:p>
        </p:txBody>
      </p:sp>
    </p:spTree>
    <p:extLst>
      <p:ext uri="{BB962C8B-B14F-4D97-AF65-F5344CB8AC3E}">
        <p14:creationId xmlns:p14="http://schemas.microsoft.com/office/powerpoint/2010/main" val="846783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CFE995-BC3D-58A1-A436-C57F3FF7D01F}"/>
              </a:ext>
            </a:extLst>
          </p:cNvPr>
          <p:cNvSpPr>
            <a:spLocks noGrp="1"/>
          </p:cNvSpPr>
          <p:nvPr>
            <p:ph type="title"/>
          </p:nvPr>
        </p:nvSpPr>
        <p:spPr>
          <a:xfrm>
            <a:off x="640080" y="320040"/>
            <a:ext cx="6692827" cy="3892669"/>
          </a:xfrm>
        </p:spPr>
        <p:txBody>
          <a:bodyPr vert="horz" lIns="91440" tIns="45720" rIns="91440" bIns="45720" rtlCol="0" anchor="b">
            <a:noAutofit/>
          </a:bodyPr>
          <a:lstStyle/>
          <a:p>
            <a:r>
              <a:rPr lang="en-US" sz="6600" dirty="0" err="1"/>
              <a:t>Adicione</a:t>
            </a:r>
            <a:br>
              <a:rPr lang="en-US" sz="6600" dirty="0"/>
            </a:br>
            <a:r>
              <a:rPr lang="en-US" sz="6600" dirty="0" err="1"/>
              <a:t>Inputy</a:t>
            </a:r>
            <a:r>
              <a:rPr lang="en-US" sz="6600" dirty="0"/>
              <a:t> System UI Input Module</a:t>
            </a:r>
          </a:p>
        </p:txBody>
      </p:sp>
      <p:sp>
        <p:nvSpPr>
          <p:cNvPr id="14"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C45645"/>
          </a:solidFill>
          <a:ln w="38100" cap="rnd">
            <a:solidFill>
              <a:srgbClr val="C45645"/>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ço Reservado para Conteúdo 4" descr="Interface gráfica do usuário, Texto&#10;&#10;O conteúdo gerado por IA pode estar incorreto.">
            <a:extLst>
              <a:ext uri="{FF2B5EF4-FFF2-40B4-BE49-F238E27FC236}">
                <a16:creationId xmlns:a16="http://schemas.microsoft.com/office/drawing/2014/main" id="{8EE37629-D984-0B94-6AC3-E5A8334E4655}"/>
              </a:ext>
            </a:extLst>
          </p:cNvPr>
          <p:cNvPicPr>
            <a:picLocks noGrp="1" noChangeAspect="1"/>
          </p:cNvPicPr>
          <p:nvPr>
            <p:ph idx="1"/>
          </p:nvPr>
        </p:nvPicPr>
        <p:blipFill>
          <a:blip r:embed="rId2"/>
          <a:stretch>
            <a:fillRect/>
          </a:stretch>
        </p:blipFill>
        <p:spPr>
          <a:xfrm>
            <a:off x="8115106" y="320040"/>
            <a:ext cx="3420244" cy="6190488"/>
          </a:xfrm>
          <a:prstGeom prst="rect">
            <a:avLst/>
          </a:prstGeom>
        </p:spPr>
      </p:pic>
    </p:spTree>
    <p:extLst>
      <p:ext uri="{BB962C8B-B14F-4D97-AF65-F5344CB8AC3E}">
        <p14:creationId xmlns:p14="http://schemas.microsoft.com/office/powerpoint/2010/main" val="2124027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723BC8-9ED7-6D97-23E0-1B381CE3BA7C}"/>
              </a:ext>
            </a:extLst>
          </p:cNvPr>
          <p:cNvSpPr>
            <a:spLocks noGrp="1"/>
          </p:cNvSpPr>
          <p:nvPr>
            <p:ph type="title"/>
          </p:nvPr>
        </p:nvSpPr>
        <p:spPr/>
        <p:txBody>
          <a:bodyPr/>
          <a:lstStyle/>
          <a:p>
            <a:r>
              <a:rPr lang="pt-BR" dirty="0"/>
              <a:t>Desative os óculos </a:t>
            </a:r>
          </a:p>
        </p:txBody>
      </p:sp>
      <p:pic>
        <p:nvPicPr>
          <p:cNvPr id="5" name="Espaço Reservado para Conteúdo 4" descr="Tela de celular com publicação numa rede social&#10;&#10;O conteúdo gerado por IA pode estar incorreto.">
            <a:extLst>
              <a:ext uri="{FF2B5EF4-FFF2-40B4-BE49-F238E27FC236}">
                <a16:creationId xmlns:a16="http://schemas.microsoft.com/office/drawing/2014/main" id="{39F73056-F8BE-B16F-0FAE-F6B9E857E1BB}"/>
              </a:ext>
            </a:extLst>
          </p:cNvPr>
          <p:cNvPicPr>
            <a:picLocks noGrp="1" noChangeAspect="1"/>
          </p:cNvPicPr>
          <p:nvPr>
            <p:ph idx="1"/>
          </p:nvPr>
        </p:nvPicPr>
        <p:blipFill>
          <a:blip r:embed="rId2"/>
          <a:stretch>
            <a:fillRect/>
          </a:stretch>
        </p:blipFill>
        <p:spPr>
          <a:xfrm>
            <a:off x="1620606" y="1928813"/>
            <a:ext cx="8950787" cy="4252912"/>
          </a:xfrm>
          <a:prstGeom prst="rect">
            <a:avLst/>
          </a:prstGeom>
        </p:spPr>
      </p:pic>
      <p:sp>
        <p:nvSpPr>
          <p:cNvPr id="6" name="Seta: para a Direita 5">
            <a:extLst>
              <a:ext uri="{FF2B5EF4-FFF2-40B4-BE49-F238E27FC236}">
                <a16:creationId xmlns:a16="http://schemas.microsoft.com/office/drawing/2014/main" id="{6B27BF75-DF10-4F6E-38ED-A4843D84DD2A}"/>
              </a:ext>
            </a:extLst>
          </p:cNvPr>
          <p:cNvSpPr/>
          <p:nvPr/>
        </p:nvSpPr>
        <p:spPr>
          <a:xfrm rot="19987182">
            <a:off x="8054914" y="2398425"/>
            <a:ext cx="447040" cy="4368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b="1" dirty="0"/>
          </a:p>
        </p:txBody>
      </p:sp>
    </p:spTree>
    <p:extLst>
      <p:ext uri="{BB962C8B-B14F-4D97-AF65-F5344CB8AC3E}">
        <p14:creationId xmlns:p14="http://schemas.microsoft.com/office/powerpoint/2010/main" val="29527526"/>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otalTime>127</TotalTime>
  <Words>438</Words>
  <Application>Microsoft Office PowerPoint</Application>
  <PresentationFormat>Widescreen</PresentationFormat>
  <Paragraphs>24</Paragraphs>
  <Slides>12</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vt:i4>
      </vt:variant>
    </vt:vector>
  </HeadingPairs>
  <TitlesOfParts>
    <vt:vector size="17" baseType="lpstr">
      <vt:lpstr>Arial</vt:lpstr>
      <vt:lpstr>Inter</vt:lpstr>
      <vt:lpstr>Modern Love</vt:lpstr>
      <vt:lpstr>The Hand</vt:lpstr>
      <vt:lpstr>SketchyVTI</vt:lpstr>
      <vt:lpstr>Detecção Facial</vt:lpstr>
      <vt:lpstr>UI</vt:lpstr>
      <vt:lpstr>Apresentação do PowerPoint</vt:lpstr>
      <vt:lpstr>Apresentação do PowerPoint</vt:lpstr>
      <vt:lpstr>Ícones para botões UI</vt:lpstr>
      <vt:lpstr>UI</vt:lpstr>
      <vt:lpstr>Apresentação do PowerPoint</vt:lpstr>
      <vt:lpstr>Apresentação do PowerPoint</vt:lpstr>
      <vt:lpstr>SCRIPT</vt:lpstr>
      <vt:lpstr>Apresentação do PowerPoint</vt:lpstr>
      <vt:lpstr>Adicione Inputy System UI Input Module</vt:lpstr>
      <vt:lpstr>Desative os óculos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Fabio Henrique Trevezane</dc:creator>
  <cp:lastModifiedBy>Fabio Henrique Trevezane</cp:lastModifiedBy>
  <cp:revision>17</cp:revision>
  <dcterms:created xsi:type="dcterms:W3CDTF">2025-12-20T17:38:13Z</dcterms:created>
  <dcterms:modified xsi:type="dcterms:W3CDTF">2025-12-20T19:45:37Z</dcterms:modified>
</cp:coreProperties>
</file>