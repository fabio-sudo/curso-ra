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3" r:id="rId7"/>
    <p:sldId id="261" r:id="rId8"/>
    <p:sldId id="262" r:id="rId9"/>
    <p:sldId id="264" r:id="rId10"/>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7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57802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021483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1/9/2026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109352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586313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1/9/2026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352059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097023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1/9/2026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665888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1/9/2026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562781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1/9/2026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03641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1/9/2026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124984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1/9/2026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548371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1/9/2026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‹nº›</a:t>
            </a:fld>
            <a:endParaRPr lang="en-US"/>
          </a:p>
        </p:txBody>
      </p:sp>
    </p:spTree>
    <p:extLst>
      <p:ext uri="{BB962C8B-B14F-4D97-AF65-F5344CB8AC3E}">
        <p14:creationId xmlns:p14="http://schemas.microsoft.com/office/powerpoint/2010/main" val="1416976412"/>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www.youtube.com/watch?v=p_Q7eA-C6X0&amp;t=19s" TargetMode="External"/><Relationship Id="rId3" Type="http://schemas.openxmlformats.org/officeDocument/2006/relationships/hyperlink" Target="https://www.youtube.com/watch?v=xBYDmauqdaw" TargetMode="External"/><Relationship Id="rId7" Type="http://schemas.openxmlformats.org/officeDocument/2006/relationships/hyperlink" Target="https://play.google.com/store/apps/details?id=com.artivive&amp;hl=en_US&amp;gl=US" TargetMode="External"/><Relationship Id="rId2" Type="http://schemas.openxmlformats.org/officeDocument/2006/relationships/hyperlink" Target="https://www.8thwall.com/toolofnorthamerica/pizza-hut-pacman" TargetMode="External"/><Relationship Id="rId1" Type="http://schemas.openxmlformats.org/officeDocument/2006/relationships/slideLayout" Target="../slideLayouts/slideLayout2.xml"/><Relationship Id="rId6" Type="http://schemas.openxmlformats.org/officeDocument/2006/relationships/hyperlink" Target="https://apps.apple.com/us/app/artivive/id1188737494" TargetMode="External"/><Relationship Id="rId5" Type="http://schemas.openxmlformats.org/officeDocument/2006/relationships/hyperlink" Target="https://youtu.be/3yc3tjyAdv0" TargetMode="External"/><Relationship Id="rId10" Type="http://schemas.openxmlformats.org/officeDocument/2006/relationships/hyperlink" Target="https://play.google.com/store/apps/details?id=tattoo.inkhunter" TargetMode="External"/><Relationship Id="rId4" Type="http://schemas.openxmlformats.org/officeDocument/2006/relationships/hyperlink" Target="https://www.youtube.com/watch?v=1nZpX9BQEfo" TargetMode="External"/><Relationship Id="rId9" Type="http://schemas.openxmlformats.org/officeDocument/2006/relationships/hyperlink" Target="https://apps.apple.com/us/app/inkhunter-try-tattoo-designs/id991558368"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a:extLst>
              <a:ext uri="{FF2B5EF4-FFF2-40B4-BE49-F238E27FC236}">
                <a16:creationId xmlns:a16="http://schemas.microsoft.com/office/drawing/2014/main" id="{DBAC6346-001D-5B95-5E70-CC3919A46FE9}"/>
              </a:ext>
            </a:extLst>
          </p:cNvPr>
          <p:cNvPicPr>
            <a:picLocks noChangeAspect="1"/>
          </p:cNvPicPr>
          <p:nvPr/>
        </p:nvPicPr>
        <p:blipFill>
          <a:blip r:embed="rId2"/>
          <a:srcRect t="25000"/>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7D064F0-6D2A-219C-C000-14ABD99ECE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06" y="0"/>
            <a:ext cx="4903694" cy="6858001"/>
          </a:xfrm>
          <a:prstGeom prst="rect">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E588BE7-3F66-0F40-6DE1-2CC0511F7AEA}"/>
              </a:ext>
            </a:extLst>
          </p:cNvPr>
          <p:cNvSpPr>
            <a:spLocks noGrp="1"/>
          </p:cNvSpPr>
          <p:nvPr>
            <p:ph type="ctrTitle"/>
          </p:nvPr>
        </p:nvSpPr>
        <p:spPr>
          <a:xfrm>
            <a:off x="7620001" y="822960"/>
            <a:ext cx="4286054" cy="3474720"/>
          </a:xfrm>
        </p:spPr>
        <p:txBody>
          <a:bodyPr anchor="b">
            <a:normAutofit/>
          </a:bodyPr>
          <a:lstStyle/>
          <a:p>
            <a:r>
              <a:rPr lang="pt-BR" dirty="0"/>
              <a:t>AR </a:t>
            </a:r>
            <a:r>
              <a:rPr lang="pt-BR" dirty="0" err="1"/>
              <a:t>markers</a:t>
            </a:r>
            <a:endParaRPr lang="pt-BR" dirty="0"/>
          </a:p>
        </p:txBody>
      </p:sp>
      <p:sp>
        <p:nvSpPr>
          <p:cNvPr id="3" name="Subtítulo 2">
            <a:extLst>
              <a:ext uri="{FF2B5EF4-FFF2-40B4-BE49-F238E27FC236}">
                <a16:creationId xmlns:a16="http://schemas.microsoft.com/office/drawing/2014/main" id="{5682DE51-A0D4-742B-7819-670C96A270FA}"/>
              </a:ext>
            </a:extLst>
          </p:cNvPr>
          <p:cNvSpPr>
            <a:spLocks noGrp="1"/>
          </p:cNvSpPr>
          <p:nvPr>
            <p:ph type="subTitle" idx="1"/>
          </p:nvPr>
        </p:nvSpPr>
        <p:spPr>
          <a:xfrm>
            <a:off x="7620001" y="4419600"/>
            <a:ext cx="3931920" cy="1386840"/>
          </a:xfrm>
        </p:spPr>
        <p:txBody>
          <a:bodyPr anchor="t">
            <a:normAutofit/>
          </a:bodyPr>
          <a:lstStyle/>
          <a:p>
            <a:pPr algn="l"/>
            <a:r>
              <a:rPr lang="pt-BR" sz="2200"/>
              <a:t>Unity RA</a:t>
            </a:r>
          </a:p>
        </p:txBody>
      </p:sp>
      <p:pic>
        <p:nvPicPr>
          <p:cNvPr id="1026" name="Picture 2" descr="Create a new project for marker-based AR">
            <a:extLst>
              <a:ext uri="{FF2B5EF4-FFF2-40B4-BE49-F238E27FC236}">
                <a16:creationId xmlns:a16="http://schemas.microsoft.com/office/drawing/2014/main" id="{71CB3874-603C-7024-00ED-BE5DCF73FD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05" y="1894840"/>
            <a:ext cx="6953956" cy="391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624276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AD58CD-CA3A-8100-CE1B-E8F52579A1EE}"/>
              </a:ext>
            </a:extLst>
          </p:cNvPr>
          <p:cNvSpPr>
            <a:spLocks noGrp="1"/>
          </p:cNvSpPr>
          <p:nvPr>
            <p:ph type="title"/>
          </p:nvPr>
        </p:nvSpPr>
        <p:spPr/>
        <p:txBody>
          <a:bodyPr/>
          <a:lstStyle/>
          <a:p>
            <a:r>
              <a:rPr lang="pt-BR" dirty="0" err="1"/>
              <a:t>QRCode</a:t>
            </a:r>
            <a:endParaRPr lang="pt-BR" dirty="0"/>
          </a:p>
        </p:txBody>
      </p:sp>
      <p:sp>
        <p:nvSpPr>
          <p:cNvPr id="3" name="Espaço Reservado para Conteúdo 2">
            <a:extLst>
              <a:ext uri="{FF2B5EF4-FFF2-40B4-BE49-F238E27FC236}">
                <a16:creationId xmlns:a16="http://schemas.microsoft.com/office/drawing/2014/main" id="{90FC3A45-5BD1-DB65-26F2-908F05457F46}"/>
              </a:ext>
            </a:extLst>
          </p:cNvPr>
          <p:cNvSpPr>
            <a:spLocks noGrp="1"/>
          </p:cNvSpPr>
          <p:nvPr>
            <p:ph idx="1"/>
          </p:nvPr>
        </p:nvSpPr>
        <p:spPr>
          <a:xfrm>
            <a:off x="612647" y="1715532"/>
            <a:ext cx="10653579" cy="3259591"/>
          </a:xfrm>
        </p:spPr>
        <p:txBody>
          <a:bodyPr/>
          <a:lstStyle/>
          <a:p>
            <a:r>
              <a:rPr lang="pt-BR" dirty="0"/>
              <a:t>A realidade aumentada baseada em marcadores permite que seu aplicativo detecte uma imagem no mundo real e acione alguma ação, como exibir conteúdo de realidade aumentada, quando a imagem for detectada.</a:t>
            </a:r>
          </a:p>
          <a:p>
            <a:r>
              <a:rPr lang="pt-BR" dirty="0"/>
              <a:t>Um marcador de RA (Realidade Aumentada) é uma imagem que seu aplicativo buscará no mundo real. Quando o aplicativo detecta o marcador, ele projeta um modelo 3D sobre ele em RA. O marcador funciona de forma semelhante a um código QR, com a diferença de que, em vez de levar você a um site, ele pode ativar uma experiência completa de RA.</a:t>
            </a:r>
          </a:p>
        </p:txBody>
      </p:sp>
    </p:spTree>
    <p:extLst>
      <p:ext uri="{BB962C8B-B14F-4D97-AF65-F5344CB8AC3E}">
        <p14:creationId xmlns:p14="http://schemas.microsoft.com/office/powerpoint/2010/main" val="1170556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D9B1C4-8155-4734-8D35-D1693724EC31}"/>
              </a:ext>
            </a:extLst>
          </p:cNvPr>
          <p:cNvSpPr>
            <a:spLocks noGrp="1"/>
          </p:cNvSpPr>
          <p:nvPr>
            <p:ph type="title"/>
          </p:nvPr>
        </p:nvSpPr>
        <p:spPr/>
        <p:txBody>
          <a:bodyPr/>
          <a:lstStyle/>
          <a:p>
            <a:r>
              <a:rPr lang="pt-BR" dirty="0"/>
              <a:t>Exemplos</a:t>
            </a:r>
          </a:p>
        </p:txBody>
      </p:sp>
      <p:sp>
        <p:nvSpPr>
          <p:cNvPr id="3" name="Espaço Reservado para Conteúdo 2">
            <a:extLst>
              <a:ext uri="{FF2B5EF4-FFF2-40B4-BE49-F238E27FC236}">
                <a16:creationId xmlns:a16="http://schemas.microsoft.com/office/drawing/2014/main" id="{A89F41F7-D230-25B2-1EC4-23405A24325E}"/>
              </a:ext>
            </a:extLst>
          </p:cNvPr>
          <p:cNvSpPr>
            <a:spLocks noGrp="1"/>
          </p:cNvSpPr>
          <p:nvPr>
            <p:ph idx="1"/>
          </p:nvPr>
        </p:nvSpPr>
        <p:spPr/>
        <p:txBody>
          <a:bodyPr/>
          <a:lstStyle/>
          <a:p>
            <a:pPr algn="l">
              <a:lnSpc>
                <a:spcPts val="1800"/>
              </a:lnSpc>
              <a:buNone/>
            </a:pPr>
            <a:r>
              <a:rPr lang="pt-BR" b="0" i="0" dirty="0">
                <a:solidFill>
                  <a:srgbClr val="000000"/>
                </a:solidFill>
                <a:effectLst/>
                <a:latin typeface="Inter"/>
              </a:rPr>
              <a:t>Os aplicativos de RA baseados em marcadores são usados ​​em uma ampla variedade de setores, incluindo marketing e jogos, manufatura, arte e arquitetura, para citar apenas alguns. Os motivos pelos quais as empresas usam RA baseada em marcadores variam, mas geralmente é para fornecer conteúdo adicional sobre algo no mundo real. De jogos divertidos que tornam caixas de pizza interativas, cartões de visita que ganham vida, arte que salta da tela ou aplicativos de planejamento de tatuagem que permitem posicionar e editar o que você deseja que as tatuagens fiquem, a RA baseada em marcadores tem muito potencial.</a:t>
            </a:r>
          </a:p>
          <a:p>
            <a:pPr algn="l">
              <a:lnSpc>
                <a:spcPts val="1800"/>
              </a:lnSpc>
              <a:buNone/>
            </a:pPr>
            <a:r>
              <a:rPr lang="pt-BR" b="0" i="0" dirty="0">
                <a:solidFill>
                  <a:srgbClr val="000000"/>
                </a:solidFill>
                <a:effectLst/>
                <a:latin typeface="Inter"/>
              </a:rPr>
              <a:t>Para ter uma ideia de como isso funciona, explore os links para os exemplos abaixo:</a:t>
            </a:r>
          </a:p>
          <a:p>
            <a:pPr algn="l">
              <a:buFont typeface="Arial" panose="020B0604020202020204" pitchFamily="34" charset="0"/>
              <a:buChar char="•"/>
            </a:pPr>
            <a:r>
              <a:rPr lang="pt-BR" b="0" i="0" dirty="0">
                <a:solidFill>
                  <a:srgbClr val="000000"/>
                </a:solidFill>
                <a:effectLst/>
                <a:latin typeface="Inter"/>
              </a:rPr>
              <a:t>Marketing e jogos ( </a:t>
            </a:r>
            <a:r>
              <a:rPr lang="pt-BR" b="0" i="0" u="sng" dirty="0">
                <a:solidFill>
                  <a:srgbClr val="000000"/>
                </a:solidFill>
                <a:effectLst/>
                <a:latin typeface="Inter"/>
                <a:hlinkClick r:id="rId2"/>
              </a:rPr>
              <a:t>Pizza Hut </a:t>
            </a:r>
            <a:r>
              <a:rPr lang="pt-BR" b="0" i="0" u="sng" dirty="0" err="1">
                <a:solidFill>
                  <a:srgbClr val="000000"/>
                </a:solidFill>
                <a:effectLst/>
                <a:latin typeface="Inter"/>
                <a:hlinkClick r:id="rId2"/>
              </a:rPr>
              <a:t>Pac</a:t>
            </a:r>
            <a:r>
              <a:rPr lang="pt-BR" b="0" i="0" u="sng" dirty="0">
                <a:solidFill>
                  <a:srgbClr val="000000"/>
                </a:solidFill>
                <a:effectLst/>
                <a:latin typeface="Inter"/>
                <a:hlinkClick r:id="rId2"/>
              </a:rPr>
              <a:t>-Man</a:t>
            </a:r>
            <a:r>
              <a:rPr lang="pt-BR" b="0" i="0" dirty="0">
                <a:solidFill>
                  <a:srgbClr val="000000"/>
                </a:solidFill>
                <a:effectLst/>
                <a:latin typeface="Inter"/>
              </a:rPr>
              <a:t> )</a:t>
            </a:r>
          </a:p>
          <a:p>
            <a:pPr algn="l">
              <a:buFont typeface="Arial" panose="020B0604020202020204" pitchFamily="34" charset="0"/>
              <a:buChar char="•"/>
            </a:pPr>
            <a:r>
              <a:rPr lang="pt-BR" b="0" i="0" dirty="0">
                <a:solidFill>
                  <a:srgbClr val="000000"/>
                </a:solidFill>
                <a:effectLst/>
                <a:latin typeface="Inter"/>
              </a:rPr>
              <a:t>Forneça informações adicionais ( </a:t>
            </a:r>
            <a:r>
              <a:rPr lang="pt-BR" b="0" i="0" u="sng" dirty="0">
                <a:solidFill>
                  <a:srgbClr val="000000"/>
                </a:solidFill>
                <a:effectLst/>
                <a:latin typeface="Inter"/>
                <a:hlinkClick r:id="rId3"/>
              </a:rPr>
              <a:t>cartões de visita</a:t>
            </a:r>
            <a:r>
              <a:rPr lang="pt-BR" b="0" i="0" dirty="0">
                <a:solidFill>
                  <a:srgbClr val="000000"/>
                </a:solidFill>
                <a:effectLst/>
                <a:latin typeface="Inter"/>
              </a:rPr>
              <a:t> , </a:t>
            </a:r>
            <a:r>
              <a:rPr lang="pt-BR" b="0" i="0" u="sng" dirty="0">
                <a:solidFill>
                  <a:srgbClr val="000000"/>
                </a:solidFill>
                <a:effectLst/>
                <a:latin typeface="Inter"/>
                <a:hlinkClick r:id="rId4"/>
              </a:rPr>
              <a:t>demonstrações médicas</a:t>
            </a:r>
            <a:r>
              <a:rPr lang="pt-BR" b="0" i="0" dirty="0">
                <a:solidFill>
                  <a:srgbClr val="000000"/>
                </a:solidFill>
                <a:effectLst/>
                <a:latin typeface="Inter"/>
              </a:rPr>
              <a:t> ).</a:t>
            </a:r>
          </a:p>
          <a:p>
            <a:pPr algn="l">
              <a:buFont typeface="Arial" panose="020B0604020202020204" pitchFamily="34" charset="0"/>
              <a:buChar char="•"/>
            </a:pPr>
            <a:r>
              <a:rPr lang="pt-BR" b="0" i="0" dirty="0">
                <a:solidFill>
                  <a:srgbClr val="000000"/>
                </a:solidFill>
                <a:effectLst/>
                <a:latin typeface="Inter"/>
              </a:rPr>
              <a:t>Arte ( </a:t>
            </a:r>
            <a:r>
              <a:rPr lang="pt-BR" b="0" i="0" u="sng" dirty="0">
                <a:solidFill>
                  <a:srgbClr val="000000"/>
                </a:solidFill>
                <a:effectLst/>
                <a:latin typeface="Inter"/>
                <a:hlinkClick r:id="rId5"/>
              </a:rPr>
              <a:t>demonstração</a:t>
            </a:r>
            <a:r>
              <a:rPr lang="pt-BR" b="0" i="0" dirty="0">
                <a:solidFill>
                  <a:srgbClr val="000000"/>
                </a:solidFill>
                <a:effectLst/>
                <a:latin typeface="Inter"/>
              </a:rPr>
              <a:t> do </a:t>
            </a:r>
            <a:r>
              <a:rPr lang="pt-BR" b="0" i="0" dirty="0" err="1">
                <a:solidFill>
                  <a:srgbClr val="000000"/>
                </a:solidFill>
                <a:effectLst/>
                <a:latin typeface="Inter"/>
              </a:rPr>
              <a:t>ArtVive</a:t>
            </a:r>
            <a:r>
              <a:rPr lang="pt-BR" b="0" i="0" dirty="0">
                <a:solidFill>
                  <a:srgbClr val="000000"/>
                </a:solidFill>
                <a:effectLst/>
                <a:latin typeface="Inter"/>
              </a:rPr>
              <a:t> | </a:t>
            </a:r>
            <a:r>
              <a:rPr lang="pt-BR" b="0" i="0" u="sng" dirty="0">
                <a:solidFill>
                  <a:srgbClr val="000000"/>
                </a:solidFill>
                <a:effectLst/>
                <a:latin typeface="Inter"/>
                <a:hlinkClick r:id="rId6"/>
              </a:rPr>
              <a:t>iOS</a:t>
            </a:r>
            <a:r>
              <a:rPr lang="pt-BR" b="0" i="0" dirty="0">
                <a:solidFill>
                  <a:srgbClr val="000000"/>
                </a:solidFill>
                <a:effectLst/>
                <a:latin typeface="Inter"/>
              </a:rPr>
              <a:t> | </a:t>
            </a:r>
            <a:r>
              <a:rPr lang="pt-BR" b="0" i="0" u="sng" dirty="0">
                <a:solidFill>
                  <a:srgbClr val="000000"/>
                </a:solidFill>
                <a:effectLst/>
                <a:latin typeface="Inter"/>
                <a:hlinkClick r:id="rId7"/>
              </a:rPr>
              <a:t>Android</a:t>
            </a:r>
            <a:r>
              <a:rPr lang="pt-BR" b="0" i="0" dirty="0">
                <a:solidFill>
                  <a:srgbClr val="000000"/>
                </a:solidFill>
                <a:effectLst/>
                <a:latin typeface="Inter"/>
              </a:rPr>
              <a:t> )</a:t>
            </a:r>
          </a:p>
          <a:p>
            <a:pPr algn="l">
              <a:buFont typeface="Arial" panose="020B0604020202020204" pitchFamily="34" charset="0"/>
              <a:buChar char="•"/>
            </a:pPr>
            <a:r>
              <a:rPr lang="pt-BR" b="0" i="0" dirty="0">
                <a:solidFill>
                  <a:srgbClr val="000000"/>
                </a:solidFill>
                <a:effectLst/>
                <a:latin typeface="Inter"/>
              </a:rPr>
              <a:t>Utilitário ( </a:t>
            </a:r>
            <a:r>
              <a:rPr lang="pt-BR" b="0" i="0" u="sng" dirty="0">
                <a:solidFill>
                  <a:srgbClr val="000000"/>
                </a:solidFill>
                <a:effectLst/>
                <a:latin typeface="Inter"/>
                <a:hlinkClick r:id="rId8"/>
              </a:rPr>
              <a:t>demonstração</a:t>
            </a:r>
            <a:r>
              <a:rPr lang="pt-BR" b="0" i="0" dirty="0">
                <a:solidFill>
                  <a:srgbClr val="000000"/>
                </a:solidFill>
                <a:effectLst/>
                <a:latin typeface="Inter"/>
              </a:rPr>
              <a:t> do </a:t>
            </a:r>
            <a:r>
              <a:rPr lang="pt-BR" b="0" i="0" dirty="0" err="1">
                <a:solidFill>
                  <a:srgbClr val="000000"/>
                </a:solidFill>
                <a:effectLst/>
                <a:latin typeface="Inter"/>
              </a:rPr>
              <a:t>Inkhunter</a:t>
            </a:r>
            <a:r>
              <a:rPr lang="pt-BR" b="0" i="0" dirty="0">
                <a:solidFill>
                  <a:srgbClr val="000000"/>
                </a:solidFill>
                <a:effectLst/>
                <a:latin typeface="Inter"/>
              </a:rPr>
              <a:t> | </a:t>
            </a:r>
            <a:r>
              <a:rPr lang="pt-BR" b="0" i="0" u="sng" dirty="0">
                <a:solidFill>
                  <a:srgbClr val="000000"/>
                </a:solidFill>
                <a:effectLst/>
                <a:latin typeface="Inter"/>
                <a:hlinkClick r:id="rId9"/>
              </a:rPr>
              <a:t>iOS</a:t>
            </a:r>
            <a:r>
              <a:rPr lang="pt-BR" b="0" i="0" dirty="0">
                <a:solidFill>
                  <a:srgbClr val="000000"/>
                </a:solidFill>
                <a:effectLst/>
                <a:latin typeface="Inter"/>
              </a:rPr>
              <a:t> | </a:t>
            </a:r>
            <a:r>
              <a:rPr lang="pt-BR" b="0" i="0" u="sng" dirty="0">
                <a:solidFill>
                  <a:srgbClr val="000000"/>
                </a:solidFill>
                <a:effectLst/>
                <a:latin typeface="Inter"/>
                <a:hlinkClick r:id="rId10"/>
              </a:rPr>
              <a:t>Android</a:t>
            </a:r>
            <a:r>
              <a:rPr lang="pt-BR" b="0" i="0" dirty="0">
                <a:solidFill>
                  <a:srgbClr val="000000"/>
                </a:solidFill>
                <a:effectLst/>
                <a:latin typeface="Inter"/>
              </a:rPr>
              <a:t> )</a:t>
            </a:r>
          </a:p>
          <a:p>
            <a:endParaRPr lang="pt-BR" dirty="0"/>
          </a:p>
        </p:txBody>
      </p:sp>
    </p:spTree>
    <p:extLst>
      <p:ext uri="{BB962C8B-B14F-4D97-AF65-F5344CB8AC3E}">
        <p14:creationId xmlns:p14="http://schemas.microsoft.com/office/powerpoint/2010/main" val="3946567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1187F7A-920C-B377-65E8-1CF4CBCE3C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70153BC-41E1-2CA9-E2F9-98F143865C19}"/>
              </a:ext>
            </a:extLst>
          </p:cNvPr>
          <p:cNvSpPr>
            <a:spLocks noGrp="1"/>
          </p:cNvSpPr>
          <p:nvPr>
            <p:ph type="title"/>
          </p:nvPr>
        </p:nvSpPr>
        <p:spPr>
          <a:xfrm>
            <a:off x="609599" y="5293849"/>
            <a:ext cx="7202558" cy="1178688"/>
          </a:xfrm>
        </p:spPr>
        <p:txBody>
          <a:bodyPr vert="horz" lIns="91440" tIns="45720" rIns="91440" bIns="45720" rtlCol="0" anchor="ctr">
            <a:normAutofit/>
          </a:bodyPr>
          <a:lstStyle/>
          <a:p>
            <a:r>
              <a:rPr lang="en-US" sz="4000"/>
              <a:t>AR Markers</a:t>
            </a:r>
          </a:p>
        </p:txBody>
      </p:sp>
      <p:sp>
        <p:nvSpPr>
          <p:cNvPr id="3" name="Espaço Reservado para Texto 2">
            <a:extLst>
              <a:ext uri="{FF2B5EF4-FFF2-40B4-BE49-F238E27FC236}">
                <a16:creationId xmlns:a16="http://schemas.microsoft.com/office/drawing/2014/main" id="{BDCE90CA-6F7F-FC8D-694A-6F0ABB03F17B}"/>
              </a:ext>
            </a:extLst>
          </p:cNvPr>
          <p:cNvSpPr>
            <a:spLocks noGrp="1"/>
          </p:cNvSpPr>
          <p:nvPr>
            <p:ph type="body" idx="1"/>
          </p:nvPr>
        </p:nvSpPr>
        <p:spPr>
          <a:xfrm>
            <a:off x="7812157" y="5293850"/>
            <a:ext cx="3874124" cy="1178688"/>
          </a:xfrm>
        </p:spPr>
        <p:txBody>
          <a:bodyPr vert="horz" lIns="91440" tIns="45720" rIns="91440" bIns="45720" rtlCol="0" anchor="ctr">
            <a:normAutofit/>
          </a:bodyPr>
          <a:lstStyle/>
          <a:p>
            <a:pPr algn="r"/>
            <a:r>
              <a:rPr lang="en-US" sz="1800" dirty="0"/>
              <a:t>Vamos </a:t>
            </a:r>
            <a:r>
              <a:rPr lang="en-US" sz="1800" dirty="0" err="1"/>
              <a:t>criar</a:t>
            </a:r>
            <a:r>
              <a:rPr lang="en-US" sz="1800" dirty="0"/>
              <a:t> </a:t>
            </a:r>
            <a:r>
              <a:rPr lang="en-US" sz="1800" dirty="0" err="1"/>
              <a:t>nosso</a:t>
            </a:r>
            <a:r>
              <a:rPr lang="en-US" sz="1800" dirty="0"/>
              <a:t> </a:t>
            </a:r>
            <a:r>
              <a:rPr lang="en-US" sz="1800" dirty="0" err="1"/>
              <a:t>aplicativo</a:t>
            </a:r>
            <a:r>
              <a:rPr lang="en-US" sz="1800" dirty="0"/>
              <a:t> com template AR Mobile</a:t>
            </a:r>
          </a:p>
        </p:txBody>
      </p:sp>
      <p:pic>
        <p:nvPicPr>
          <p:cNvPr id="5" name="Imagem 4" descr="Interface gráfica do usuário, Aplicativo&#10;&#10;O conteúdo gerado por IA pode estar incorreto.">
            <a:extLst>
              <a:ext uri="{FF2B5EF4-FFF2-40B4-BE49-F238E27FC236}">
                <a16:creationId xmlns:a16="http://schemas.microsoft.com/office/drawing/2014/main" id="{6A7DC124-C1E5-1D6C-4AFF-CBA6268B72FB}"/>
              </a:ext>
            </a:extLst>
          </p:cNvPr>
          <p:cNvPicPr>
            <a:picLocks noChangeAspect="1"/>
          </p:cNvPicPr>
          <p:nvPr/>
        </p:nvPicPr>
        <p:blipFill>
          <a:blip r:embed="rId2"/>
          <a:srcRect b="20672"/>
          <a:stretch>
            <a:fillRect/>
          </a:stretch>
        </p:blipFill>
        <p:spPr>
          <a:xfrm>
            <a:off x="20" y="10"/>
            <a:ext cx="12191980" cy="4908375"/>
          </a:xfrm>
          <a:prstGeom prst="rect">
            <a:avLst/>
          </a:prstGeom>
        </p:spPr>
      </p:pic>
    </p:spTree>
    <p:extLst>
      <p:ext uri="{BB962C8B-B14F-4D97-AF65-F5344CB8AC3E}">
        <p14:creationId xmlns:p14="http://schemas.microsoft.com/office/powerpoint/2010/main" val="1837826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98F0EA-639E-7BF8-5E2E-9BE0CC3D1124}"/>
              </a:ext>
            </a:extLst>
          </p:cNvPr>
          <p:cNvSpPr>
            <a:spLocks noGrp="1"/>
          </p:cNvSpPr>
          <p:nvPr>
            <p:ph type="title"/>
          </p:nvPr>
        </p:nvSpPr>
        <p:spPr/>
        <p:txBody>
          <a:bodyPr/>
          <a:lstStyle/>
          <a:p>
            <a:r>
              <a:rPr lang="pt-BR"/>
              <a:t>Crie uma no Cena e Importe os assests</a:t>
            </a:r>
            <a:endParaRPr lang="pt-BR" dirty="0"/>
          </a:p>
        </p:txBody>
      </p:sp>
      <p:pic>
        <p:nvPicPr>
          <p:cNvPr id="5" name="Espaço Reservado para Conteúdo 4" descr="Tela de computador com texto preto sobre fundo branco&#10;&#10;O conteúdo gerado por IA pode estar incorreto.">
            <a:extLst>
              <a:ext uri="{FF2B5EF4-FFF2-40B4-BE49-F238E27FC236}">
                <a16:creationId xmlns:a16="http://schemas.microsoft.com/office/drawing/2014/main" id="{04B45359-F826-1B42-6902-A62214398282}"/>
              </a:ext>
            </a:extLst>
          </p:cNvPr>
          <p:cNvPicPr>
            <a:picLocks noGrp="1" noChangeAspect="1"/>
          </p:cNvPicPr>
          <p:nvPr>
            <p:ph idx="1"/>
          </p:nvPr>
        </p:nvPicPr>
        <p:blipFill>
          <a:blip r:embed="rId2"/>
          <a:stretch>
            <a:fillRect/>
          </a:stretch>
        </p:blipFill>
        <p:spPr>
          <a:xfrm>
            <a:off x="1657187" y="1716088"/>
            <a:ext cx="8564888" cy="4592637"/>
          </a:xfrm>
          <a:prstGeom prst="rect">
            <a:avLst/>
          </a:prstGeom>
        </p:spPr>
      </p:pic>
    </p:spTree>
    <p:extLst>
      <p:ext uri="{BB962C8B-B14F-4D97-AF65-F5344CB8AC3E}">
        <p14:creationId xmlns:p14="http://schemas.microsoft.com/office/powerpoint/2010/main" val="710442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Interface gráfica do usuário, Texto&#10;&#10;O conteúdo gerado por IA pode estar incorreto.">
            <a:extLst>
              <a:ext uri="{FF2B5EF4-FFF2-40B4-BE49-F238E27FC236}">
                <a16:creationId xmlns:a16="http://schemas.microsoft.com/office/drawing/2014/main" id="{233B3DEB-70F7-3341-5A1C-515656F9D794}"/>
              </a:ext>
            </a:extLst>
          </p:cNvPr>
          <p:cNvPicPr>
            <a:picLocks noChangeAspect="1"/>
          </p:cNvPicPr>
          <p:nvPr/>
        </p:nvPicPr>
        <p:blipFill>
          <a:blip r:embed="rId2"/>
          <a:stretch>
            <a:fillRect/>
          </a:stretch>
        </p:blipFill>
        <p:spPr>
          <a:xfrm>
            <a:off x="0" y="0"/>
            <a:ext cx="12192000" cy="6675541"/>
          </a:xfrm>
          <a:prstGeom prst="rect">
            <a:avLst/>
          </a:prstGeom>
        </p:spPr>
      </p:pic>
      <p:sp>
        <p:nvSpPr>
          <p:cNvPr id="4" name="Seta: para a Direita 3">
            <a:extLst>
              <a:ext uri="{FF2B5EF4-FFF2-40B4-BE49-F238E27FC236}">
                <a16:creationId xmlns:a16="http://schemas.microsoft.com/office/drawing/2014/main" id="{0E6F269F-8C31-B386-4832-5A4CCCA92B00}"/>
              </a:ext>
            </a:extLst>
          </p:cNvPr>
          <p:cNvSpPr/>
          <p:nvPr/>
        </p:nvSpPr>
        <p:spPr>
          <a:xfrm rot="19925708">
            <a:off x="1667880" y="262894"/>
            <a:ext cx="477520" cy="5384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738175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3F11C6-39D0-0E9D-3255-B9F4D87B6F68}"/>
              </a:ext>
            </a:extLst>
          </p:cNvPr>
          <p:cNvSpPr>
            <a:spLocks noGrp="1"/>
          </p:cNvSpPr>
          <p:nvPr>
            <p:ph type="title"/>
          </p:nvPr>
        </p:nvSpPr>
        <p:spPr/>
        <p:txBody>
          <a:bodyPr/>
          <a:lstStyle/>
          <a:p>
            <a:r>
              <a:rPr lang="pt-BR" dirty="0"/>
              <a:t>Selecione o modelo para seu aplicativo</a:t>
            </a:r>
            <a:br>
              <a:rPr lang="pt-BR" dirty="0"/>
            </a:br>
            <a:endParaRPr lang="pt-BR" dirty="0"/>
          </a:p>
        </p:txBody>
      </p:sp>
      <p:sp>
        <p:nvSpPr>
          <p:cNvPr id="3" name="Espaço Reservado para Conteúdo 2">
            <a:extLst>
              <a:ext uri="{FF2B5EF4-FFF2-40B4-BE49-F238E27FC236}">
                <a16:creationId xmlns:a16="http://schemas.microsoft.com/office/drawing/2014/main" id="{138B8071-B8B1-9154-544E-D47CC8973DB1}"/>
              </a:ext>
            </a:extLst>
          </p:cNvPr>
          <p:cNvSpPr>
            <a:spLocks noGrp="1"/>
          </p:cNvSpPr>
          <p:nvPr>
            <p:ph idx="1"/>
          </p:nvPr>
        </p:nvSpPr>
        <p:spPr/>
        <p:txBody>
          <a:bodyPr/>
          <a:lstStyle/>
          <a:p>
            <a:r>
              <a:rPr lang="pt-BR"/>
              <a:t>Você usará um marcador para gerar um modelo 3D em seu aplicativo. O pacote de recursos que você importou na etapa anterior inclui vários marcadores e modelos 3D para você escolher.</a:t>
            </a:r>
          </a:p>
          <a:p>
            <a:r>
              <a:rPr lang="pt-BR"/>
              <a:t>Se preferir, você também pode usar seu próprio marcador e modelo. Veja os exemplos nos recursos fornecidos.</a:t>
            </a:r>
          </a:p>
          <a:p>
            <a:r>
              <a:rPr lang="pt-BR"/>
              <a:t>Siga estas instruções para selecionar um modelo 3D:</a:t>
            </a:r>
          </a:p>
          <a:p>
            <a:r>
              <a:rPr lang="pt-BR" b="1"/>
              <a:t>1.</a:t>
            </a:r>
            <a:r>
              <a:rPr lang="pt-BR"/>
              <a:t> Na janela </a:t>
            </a:r>
            <a:r>
              <a:rPr lang="pt-BR" b="1"/>
              <a:t>Projeto</a:t>
            </a:r>
            <a:r>
              <a:rPr lang="pt-BR"/>
              <a:t> , navegue até a pasta </a:t>
            </a:r>
            <a:r>
              <a:rPr lang="pt-BR" b="1"/>
              <a:t>_ARMarker</a:t>
            </a:r>
            <a:r>
              <a:rPr lang="pt-BR"/>
              <a:t> &gt; </a:t>
            </a:r>
            <a:r>
              <a:rPr lang="pt-BR" b="1"/>
              <a:t>Prefabs</a:t>
            </a:r>
            <a:r>
              <a:rPr lang="pt-BR"/>
              <a:t> .</a:t>
            </a:r>
          </a:p>
          <a:p>
            <a:endParaRPr lang="pt-BR" dirty="0"/>
          </a:p>
        </p:txBody>
      </p:sp>
      <p:pic>
        <p:nvPicPr>
          <p:cNvPr id="4" name="Imagem 3">
            <a:extLst>
              <a:ext uri="{FF2B5EF4-FFF2-40B4-BE49-F238E27FC236}">
                <a16:creationId xmlns:a16="http://schemas.microsoft.com/office/drawing/2014/main" id="{EEC500CF-2A45-C095-B97D-362E35655A04}"/>
              </a:ext>
            </a:extLst>
          </p:cNvPr>
          <p:cNvPicPr>
            <a:picLocks noChangeAspect="1"/>
          </p:cNvPicPr>
          <p:nvPr/>
        </p:nvPicPr>
        <p:blipFill>
          <a:blip r:embed="rId2"/>
          <a:stretch>
            <a:fillRect/>
          </a:stretch>
        </p:blipFill>
        <p:spPr>
          <a:xfrm>
            <a:off x="7937216" y="4856480"/>
            <a:ext cx="4410993" cy="2001520"/>
          </a:xfrm>
          <a:prstGeom prst="rect">
            <a:avLst/>
          </a:prstGeom>
        </p:spPr>
      </p:pic>
    </p:spTree>
    <p:extLst>
      <p:ext uri="{BB962C8B-B14F-4D97-AF65-F5344CB8AC3E}">
        <p14:creationId xmlns:p14="http://schemas.microsoft.com/office/powerpoint/2010/main" val="2319052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B57D145C-99AA-8F1B-3DBD-BA68C3D1628E}"/>
              </a:ext>
            </a:extLst>
          </p:cNvPr>
          <p:cNvSpPr>
            <a:spLocks noGrp="1"/>
          </p:cNvSpPr>
          <p:nvPr>
            <p:ph idx="1"/>
          </p:nvPr>
        </p:nvSpPr>
        <p:spPr>
          <a:xfrm>
            <a:off x="0" y="0"/>
            <a:ext cx="10653579" cy="4593828"/>
          </a:xfrm>
        </p:spPr>
        <p:txBody>
          <a:bodyPr/>
          <a:lstStyle/>
          <a:p>
            <a:r>
              <a:rPr lang="pt-BR" b="1" dirty="0"/>
              <a:t>2.</a:t>
            </a:r>
            <a:r>
              <a:rPr lang="pt-BR" dirty="0"/>
              <a:t> Analise cada um dos </a:t>
            </a:r>
            <a:r>
              <a:rPr lang="pt-BR" dirty="0" err="1"/>
              <a:t>prefabs</a:t>
            </a:r>
            <a:r>
              <a:rPr lang="pt-BR" dirty="0"/>
              <a:t>, arrastando-os para a janela </a:t>
            </a:r>
            <a:r>
              <a:rPr lang="pt-BR" b="1" dirty="0" err="1"/>
              <a:t>Hierarchy</a:t>
            </a:r>
            <a:r>
              <a:rPr lang="pt-BR" dirty="0"/>
              <a:t> ou visualizando a pré-visualização na janela </a:t>
            </a:r>
            <a:r>
              <a:rPr lang="pt-BR" b="1" dirty="0"/>
              <a:t>Inspector</a:t>
            </a:r>
            <a:r>
              <a:rPr lang="pt-BR" dirty="0"/>
              <a:t> ao selecioná-los.</a:t>
            </a:r>
          </a:p>
          <a:p>
            <a:r>
              <a:rPr lang="pt-BR" b="1" dirty="0"/>
              <a:t>Nota:</a:t>
            </a:r>
            <a:r>
              <a:rPr lang="pt-BR" dirty="0"/>
              <a:t> Estes tutoriais usarão o modelo pré-fabricado </a:t>
            </a:r>
            <a:r>
              <a:rPr lang="pt-BR" b="1" dirty="0" err="1"/>
              <a:t>Fusebox</a:t>
            </a:r>
            <a:r>
              <a:rPr lang="pt-BR" dirty="0"/>
              <a:t> como exemplo.</a:t>
            </a:r>
          </a:p>
          <a:p>
            <a:r>
              <a:rPr lang="pt-BR" b="1" dirty="0"/>
              <a:t>3.</a:t>
            </a:r>
            <a:r>
              <a:rPr lang="pt-BR" dirty="0"/>
              <a:t> Arraste o </a:t>
            </a:r>
            <a:r>
              <a:rPr lang="pt-BR" dirty="0" err="1"/>
              <a:t>prefab</a:t>
            </a:r>
            <a:r>
              <a:rPr lang="pt-BR" dirty="0"/>
              <a:t> escolhido da janela </a:t>
            </a:r>
            <a:r>
              <a:rPr lang="pt-BR" b="1" dirty="0"/>
              <a:t>Projeto</a:t>
            </a:r>
            <a:r>
              <a:rPr lang="pt-BR" dirty="0"/>
              <a:t> para a janela </a:t>
            </a:r>
            <a:r>
              <a:rPr lang="pt-BR" b="1" dirty="0"/>
              <a:t>Hierarquia</a:t>
            </a:r>
            <a:r>
              <a:rPr lang="pt-BR" dirty="0"/>
              <a:t> .</a:t>
            </a:r>
          </a:p>
          <a:p>
            <a:r>
              <a:rPr lang="pt-BR" b="1" dirty="0"/>
              <a:t>4.</a:t>
            </a:r>
            <a:r>
              <a:rPr lang="pt-BR" dirty="0"/>
              <a:t> Com o seu </a:t>
            </a:r>
            <a:r>
              <a:rPr lang="pt-BR" dirty="0" err="1"/>
              <a:t>prefab</a:t>
            </a:r>
            <a:r>
              <a:rPr lang="pt-BR" dirty="0"/>
              <a:t> selecionado na janela </a:t>
            </a:r>
            <a:r>
              <a:rPr lang="pt-BR" b="1" dirty="0" err="1"/>
              <a:t>Hierarchy</a:t>
            </a:r>
            <a:r>
              <a:rPr lang="pt-BR" dirty="0"/>
              <a:t> , defina a </a:t>
            </a:r>
            <a:r>
              <a:rPr lang="pt-BR" b="1" dirty="0"/>
              <a:t>posição de transformação</a:t>
            </a:r>
            <a:r>
              <a:rPr lang="pt-BR" dirty="0"/>
              <a:t> para </a:t>
            </a:r>
            <a:r>
              <a:rPr lang="pt-BR" b="1" dirty="0"/>
              <a:t>X</a:t>
            </a:r>
            <a:r>
              <a:rPr lang="pt-BR" dirty="0"/>
              <a:t> = </a:t>
            </a:r>
            <a:r>
              <a:rPr lang="pt-BR" b="1" dirty="0"/>
              <a:t>0, Y</a:t>
            </a:r>
            <a:r>
              <a:rPr lang="pt-BR" dirty="0"/>
              <a:t> = </a:t>
            </a:r>
            <a:r>
              <a:rPr lang="pt-BR" b="1" dirty="0"/>
              <a:t>0, Z</a:t>
            </a:r>
            <a:r>
              <a:rPr lang="pt-BR" dirty="0"/>
              <a:t> = </a:t>
            </a:r>
            <a:r>
              <a:rPr lang="pt-BR" b="1" dirty="0"/>
              <a:t>1</a:t>
            </a:r>
            <a:r>
              <a:rPr lang="pt-BR" dirty="0"/>
              <a:t> .</a:t>
            </a:r>
          </a:p>
          <a:p>
            <a:r>
              <a:rPr lang="pt-BR" dirty="0"/>
              <a:t>Isso posicionará o modelo a um metro em frente à câmera de RA, que é aproximadamente a distância que um usuário normalmente estará de um marcador ao escaneá-lo com a câmera de seu dispositivo.</a:t>
            </a:r>
          </a:p>
          <a:p>
            <a:r>
              <a:rPr lang="pt-BR" b="1" dirty="0"/>
              <a:t>5.</a:t>
            </a:r>
            <a:r>
              <a:rPr lang="pt-BR" dirty="0"/>
              <a:t> Exclua o cubo da janela </a:t>
            </a:r>
            <a:r>
              <a:rPr lang="pt-BR" b="1" dirty="0"/>
              <a:t>Hierarquia</a:t>
            </a:r>
            <a:r>
              <a:rPr lang="pt-BR" dirty="0"/>
              <a:t> .</a:t>
            </a:r>
          </a:p>
          <a:p>
            <a:endParaRPr lang="pt-BR" dirty="0"/>
          </a:p>
        </p:txBody>
      </p:sp>
      <p:pic>
        <p:nvPicPr>
          <p:cNvPr id="4" name="Imagem 3">
            <a:extLst>
              <a:ext uri="{FF2B5EF4-FFF2-40B4-BE49-F238E27FC236}">
                <a16:creationId xmlns:a16="http://schemas.microsoft.com/office/drawing/2014/main" id="{EFC1E2E7-4D4B-CBF6-0AC2-52C16786DF2D}"/>
              </a:ext>
            </a:extLst>
          </p:cNvPr>
          <p:cNvPicPr>
            <a:picLocks noChangeAspect="1"/>
          </p:cNvPicPr>
          <p:nvPr/>
        </p:nvPicPr>
        <p:blipFill>
          <a:blip r:embed="rId2"/>
          <a:stretch>
            <a:fillRect/>
          </a:stretch>
        </p:blipFill>
        <p:spPr>
          <a:xfrm>
            <a:off x="3175504" y="4593828"/>
            <a:ext cx="9016495" cy="2264172"/>
          </a:xfrm>
          <a:prstGeom prst="rect">
            <a:avLst/>
          </a:prstGeom>
        </p:spPr>
      </p:pic>
    </p:spTree>
    <p:extLst>
      <p:ext uri="{BB962C8B-B14F-4D97-AF65-F5344CB8AC3E}">
        <p14:creationId xmlns:p14="http://schemas.microsoft.com/office/powerpoint/2010/main" val="2111438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Interface gráfica do usuário&#10;&#10;O conteúdo gerado por IA pode estar incorreto.">
            <a:extLst>
              <a:ext uri="{FF2B5EF4-FFF2-40B4-BE49-F238E27FC236}">
                <a16:creationId xmlns:a16="http://schemas.microsoft.com/office/drawing/2014/main" id="{3AD4895E-386B-83A2-6195-7544D94B5A0A}"/>
              </a:ext>
            </a:extLst>
          </p:cNvPr>
          <p:cNvPicPr>
            <a:picLocks noChangeAspect="1"/>
          </p:cNvPicPr>
          <p:nvPr/>
        </p:nvPicPr>
        <p:blipFill>
          <a:blip r:embed="rId2"/>
          <a:stretch>
            <a:fillRect/>
          </a:stretch>
        </p:blipFill>
        <p:spPr>
          <a:xfrm>
            <a:off x="0" y="0"/>
            <a:ext cx="12192000" cy="6679774"/>
          </a:xfrm>
          <a:prstGeom prst="rect">
            <a:avLst/>
          </a:prstGeom>
        </p:spPr>
      </p:pic>
    </p:spTree>
    <p:extLst>
      <p:ext uri="{BB962C8B-B14F-4D97-AF65-F5344CB8AC3E}">
        <p14:creationId xmlns:p14="http://schemas.microsoft.com/office/powerpoint/2010/main" val="1500096110"/>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27</TotalTime>
  <Words>502</Words>
  <Application>Microsoft Office PowerPoint</Application>
  <PresentationFormat>Widescreen</PresentationFormat>
  <Paragraphs>26</Paragraphs>
  <Slides>9</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9</vt:i4>
      </vt:variant>
    </vt:vector>
  </HeadingPairs>
  <TitlesOfParts>
    <vt:vector size="13" baseType="lpstr">
      <vt:lpstr>Arial</vt:lpstr>
      <vt:lpstr>Inter</vt:lpstr>
      <vt:lpstr>Neue Haas Grotesk Text Pro</vt:lpstr>
      <vt:lpstr>VanillaVTI</vt:lpstr>
      <vt:lpstr>AR markers</vt:lpstr>
      <vt:lpstr>QRCode</vt:lpstr>
      <vt:lpstr>Exemplos</vt:lpstr>
      <vt:lpstr>AR Markers</vt:lpstr>
      <vt:lpstr>Crie uma no Cena e Importe os assests</vt:lpstr>
      <vt:lpstr>Apresentação do PowerPoint</vt:lpstr>
      <vt:lpstr>Selecione o modelo para seu aplicativo </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Fabio Henrique Trevezane</dc:creator>
  <cp:lastModifiedBy>Fabio Henrique Trevezane</cp:lastModifiedBy>
  <cp:revision>6</cp:revision>
  <dcterms:created xsi:type="dcterms:W3CDTF">2026-01-08T23:16:47Z</dcterms:created>
  <dcterms:modified xsi:type="dcterms:W3CDTF">2026-01-09T19:39:24Z</dcterms:modified>
</cp:coreProperties>
</file>